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Roboto" panose="02000000000000000000" pitchFamily="2"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30"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80d1f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80d1f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c6f80d1f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c6f80d1f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c6f80d1f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c6f80d1f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c6f80d1f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c6f80d1f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c6f80d1ff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80d1f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c6f80d1ff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c6f80d1ff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c6f80d1f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c6f80d1f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68351a1084_2_1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68351a1084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7.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13.jp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p:nvPr/>
        </p:nvSpPr>
        <p:spPr>
          <a:xfrm>
            <a:off x="926050" y="1314100"/>
            <a:ext cx="7523100" cy="793800"/>
          </a:xfrm>
          <a:prstGeom prst="rect">
            <a:avLst/>
          </a:prstGeom>
          <a:solidFill>
            <a:srgbClr val="7890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6" name="Google Shape;86;p13"/>
          <p:cNvSpPr txBox="1">
            <a:spLocks noGrp="1"/>
          </p:cNvSpPr>
          <p:nvPr>
            <p:ph type="title"/>
          </p:nvPr>
        </p:nvSpPr>
        <p:spPr>
          <a:xfrm>
            <a:off x="926050" y="1796700"/>
            <a:ext cx="7872600" cy="3336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a:t>Bike Store Management System</a:t>
            </a:r>
            <a:endParaRPr/>
          </a:p>
          <a:p>
            <a:pPr marL="0" lvl="0" indent="0" algn="l" rtl="0">
              <a:spcBef>
                <a:spcPts val="0"/>
              </a:spcBef>
              <a:spcAft>
                <a:spcPts val="0"/>
              </a:spcAft>
              <a:buNone/>
            </a:pPr>
            <a:endParaRPr/>
          </a:p>
        </p:txBody>
      </p:sp>
      <p:sp>
        <p:nvSpPr>
          <p:cNvPr id="87" name="Google Shape;87;p13"/>
          <p:cNvSpPr txBox="1"/>
          <p:nvPr/>
        </p:nvSpPr>
        <p:spPr>
          <a:xfrm>
            <a:off x="933575" y="2272300"/>
            <a:ext cx="7477500" cy="1946400"/>
          </a:xfrm>
          <a:prstGeom prst="rect">
            <a:avLst/>
          </a:prstGeom>
          <a:solidFill>
            <a:schemeClr val="dk1"/>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500" dirty="0">
                <a:solidFill>
                  <a:schemeClr val="lt1"/>
                </a:solidFill>
                <a:highlight>
                  <a:schemeClr val="dk1"/>
                </a:highlight>
              </a:rPr>
              <a:t>Course Name: Junior Design || </a:t>
            </a:r>
            <a:r>
              <a:rPr lang="en" sz="1500" dirty="0">
                <a:solidFill>
                  <a:schemeClr val="lt1"/>
                </a:solidFill>
              </a:rPr>
              <a:t>Course Code: CSE 299 || Section: </a:t>
            </a:r>
            <a:r>
              <a:rPr lang="en" sz="1500" dirty="0" smtClean="0">
                <a:solidFill>
                  <a:schemeClr val="lt1"/>
                </a:solidFill>
              </a:rPr>
              <a:t>12 </a:t>
            </a:r>
            <a:r>
              <a:rPr lang="en" sz="1500" dirty="0">
                <a:solidFill>
                  <a:schemeClr val="lt1"/>
                </a:solidFill>
              </a:rPr>
              <a:t>|| Group: </a:t>
            </a:r>
            <a:r>
              <a:rPr lang="en" sz="1500" dirty="0" smtClean="0">
                <a:solidFill>
                  <a:schemeClr val="lt1"/>
                </a:solidFill>
              </a:rPr>
              <a:t>05</a:t>
            </a:r>
            <a:endParaRPr sz="1500" dirty="0">
              <a:solidFill>
                <a:schemeClr val="lt1"/>
              </a:solidFill>
            </a:endParaRPr>
          </a:p>
          <a:p>
            <a:pPr marL="0" lvl="0" indent="0" algn="ctr" rtl="0">
              <a:lnSpc>
                <a:spcPct val="115000"/>
              </a:lnSpc>
              <a:spcBef>
                <a:spcPts val="0"/>
              </a:spcBef>
              <a:spcAft>
                <a:spcPts val="0"/>
              </a:spcAft>
              <a:buNone/>
            </a:pPr>
            <a:endParaRPr sz="1500" dirty="0">
              <a:solidFill>
                <a:schemeClr val="lt1"/>
              </a:solidFill>
              <a:highlight>
                <a:schemeClr val="dk1"/>
              </a:highlight>
            </a:endParaRPr>
          </a:p>
          <a:p>
            <a:pPr marL="0" lvl="0" indent="0" algn="l" rtl="0">
              <a:lnSpc>
                <a:spcPct val="115000"/>
              </a:lnSpc>
              <a:spcBef>
                <a:spcPts val="0"/>
              </a:spcBef>
              <a:spcAft>
                <a:spcPts val="0"/>
              </a:spcAft>
              <a:buNone/>
            </a:pPr>
            <a:r>
              <a:rPr lang="en" sz="1500" dirty="0">
                <a:solidFill>
                  <a:schemeClr val="lt1"/>
                </a:solidFill>
              </a:rPr>
              <a:t>Group Members</a:t>
            </a:r>
            <a:r>
              <a:rPr lang="en" sz="1500" dirty="0" smtClean="0">
                <a:solidFill>
                  <a:schemeClr val="lt1"/>
                </a:solidFill>
              </a:rPr>
              <a:t>:</a:t>
            </a:r>
            <a:endParaRPr sz="1500" dirty="0">
              <a:solidFill>
                <a:schemeClr val="lt1"/>
              </a:solidFill>
            </a:endParaRPr>
          </a:p>
          <a:p>
            <a:pPr marL="457200" lvl="0" indent="-304800" algn="l" rtl="0">
              <a:lnSpc>
                <a:spcPct val="115000"/>
              </a:lnSpc>
              <a:spcBef>
                <a:spcPts val="0"/>
              </a:spcBef>
              <a:spcAft>
                <a:spcPts val="0"/>
              </a:spcAft>
              <a:buClr>
                <a:schemeClr val="lt1"/>
              </a:buClr>
              <a:buSzPts val="1200"/>
              <a:buAutoNum type="arabicPeriod"/>
            </a:pPr>
            <a:r>
              <a:rPr lang="en" sz="1200" dirty="0">
                <a:solidFill>
                  <a:schemeClr val="lt1"/>
                </a:solidFill>
              </a:rPr>
              <a:t>Md. </a:t>
            </a:r>
            <a:r>
              <a:rPr lang="en" sz="1200" dirty="0" smtClean="0">
                <a:solidFill>
                  <a:schemeClr val="lt1"/>
                </a:solidFill>
              </a:rPr>
              <a:t>Munam Rahman 2222824042</a:t>
            </a:r>
            <a:endParaRPr sz="1200" b="1" dirty="0">
              <a:solidFill>
                <a:schemeClr val="lt1"/>
              </a:solidFill>
            </a:endParaRPr>
          </a:p>
          <a:p>
            <a:pPr marL="457200" lvl="0" indent="-304800">
              <a:buClr>
                <a:schemeClr val="lt1"/>
              </a:buClr>
              <a:buSzPts val="1200"/>
              <a:buAutoNum type="arabicPeriod"/>
            </a:pPr>
            <a:r>
              <a:rPr lang="en" sz="1200" dirty="0" smtClean="0">
                <a:solidFill>
                  <a:schemeClr val="lt1"/>
                </a:solidFill>
              </a:rPr>
              <a:t>Junain Nasir Joy        2011137642</a:t>
            </a:r>
            <a:endParaRPr sz="1200" dirty="0">
              <a:solidFill>
                <a:schemeClr val="lt1"/>
              </a:solidFill>
            </a:endParaRPr>
          </a:p>
          <a:p>
            <a:pPr marL="0" lvl="0" indent="0" algn="ctr" rtl="0">
              <a:spcBef>
                <a:spcPts val="0"/>
              </a:spcBef>
              <a:spcAft>
                <a:spcPts val="0"/>
              </a:spcAft>
              <a:buNone/>
            </a:pPr>
            <a:endParaRPr sz="1200" b="1" dirty="0"/>
          </a:p>
          <a:p>
            <a:pPr marL="0" lvl="0" indent="0" algn="l" rtl="0">
              <a:lnSpc>
                <a:spcPct val="115000"/>
              </a:lnSpc>
              <a:spcBef>
                <a:spcPts val="0"/>
              </a:spcBef>
              <a:spcAft>
                <a:spcPts val="0"/>
              </a:spcAft>
              <a:buNone/>
            </a:pPr>
            <a:endParaRPr sz="1500" dirty="0">
              <a:solidFill>
                <a:schemeClr val="lt1"/>
              </a:solidFill>
            </a:endParaRPr>
          </a:p>
        </p:txBody>
      </p:sp>
      <p:sp>
        <p:nvSpPr>
          <p:cNvPr id="88" name="Google Shape;88;p13"/>
          <p:cNvSpPr/>
          <p:nvPr/>
        </p:nvSpPr>
        <p:spPr>
          <a:xfrm>
            <a:off x="8411075" y="237800"/>
            <a:ext cx="475500" cy="484500"/>
          </a:xfrm>
          <a:prstGeom prst="quadArrowCallout">
            <a:avLst>
              <a:gd name="adj1" fmla="val 18515"/>
              <a:gd name="adj2" fmla="val 18515"/>
              <a:gd name="adj3" fmla="val 18515"/>
              <a:gd name="adj4" fmla="val 4812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311700" y="555600"/>
            <a:ext cx="2808000" cy="755700"/>
          </a:xfrm>
          <a:prstGeom prst="rect">
            <a:avLst/>
          </a:prstGeom>
          <a:solidFill>
            <a:schemeClr val="dk1"/>
          </a:solidFill>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lt1"/>
                </a:solidFill>
                <a:highlight>
                  <a:schemeClr val="dk1"/>
                </a:highlight>
                <a:latin typeface="Arial"/>
                <a:ea typeface="Arial"/>
                <a:cs typeface="Arial"/>
                <a:sym typeface="Arial"/>
              </a:rPr>
              <a:t>Bike Store Management System</a:t>
            </a:r>
            <a:endParaRPr sz="1600">
              <a:solidFill>
                <a:schemeClr val="lt1"/>
              </a:solidFill>
              <a:highlight>
                <a:schemeClr val="dk1"/>
              </a:highlight>
            </a:endParaRPr>
          </a:p>
        </p:txBody>
      </p:sp>
      <p:sp>
        <p:nvSpPr>
          <p:cNvPr id="94" name="Google Shape;94;p14"/>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 sz="4625">
                <a:solidFill>
                  <a:schemeClr val="dk1"/>
                </a:solidFill>
                <a:highlight>
                  <a:schemeClr val="lt1"/>
                </a:highlight>
                <a:latin typeface="Arial"/>
                <a:ea typeface="Arial"/>
                <a:cs typeface="Arial"/>
                <a:sym typeface="Arial"/>
              </a:rPr>
              <a:t>The bike store management system is a web-based application for managing bike retail store activities. With this system delivery, we can automate everything from organizing the product, interacting with customers, sending stock alerts, generating invoices, and more. We are going to digitalize everything. The system will provide an enhanced UI/UX, data integrity, and easy access for customers and administrator users. The system can be used for better management of bike sales and inventory in an efficient manner while providing a high-quality experience to the customer without increasing the manual workload.</a:t>
            </a:r>
            <a:endParaRPr sz="4625">
              <a:solidFill>
                <a:schemeClr val="dk1"/>
              </a:solidFill>
              <a:highlight>
                <a:schemeClr val="lt1"/>
              </a:highlight>
              <a:latin typeface="Arial"/>
              <a:ea typeface="Arial"/>
              <a:cs typeface="Arial"/>
              <a:sym typeface="Arial"/>
            </a:endParaRPr>
          </a:p>
          <a:p>
            <a:pPr marL="0" lvl="0" indent="0" algn="l" rtl="0">
              <a:spcBef>
                <a:spcPts val="0"/>
              </a:spcBef>
              <a:spcAft>
                <a:spcPts val="1200"/>
              </a:spcAft>
              <a:buNone/>
            </a:pPr>
            <a:endParaRPr/>
          </a:p>
        </p:txBody>
      </p:sp>
      <p:pic>
        <p:nvPicPr>
          <p:cNvPr id="95" name="Google Shape;95;p14" descr="Open Chromebook laptop computer"/>
          <p:cNvPicPr preferRelativeResize="0"/>
          <p:nvPr/>
        </p:nvPicPr>
        <p:blipFill>
          <a:blip r:embed="rId3">
            <a:alphaModFix/>
          </a:blip>
          <a:stretch>
            <a:fillRect/>
          </a:stretch>
        </p:blipFill>
        <p:spPr>
          <a:xfrm>
            <a:off x="3452975" y="697325"/>
            <a:ext cx="5591976" cy="3316000"/>
          </a:xfrm>
          <a:prstGeom prst="rect">
            <a:avLst/>
          </a:prstGeom>
          <a:noFill/>
          <a:ln>
            <a:noFill/>
          </a:ln>
        </p:spPr>
      </p:pic>
      <p:pic>
        <p:nvPicPr>
          <p:cNvPr id="96" name="Google Shape;96;p14" title="e9d6c7876723c57717879270bda1f2a5.jpg"/>
          <p:cNvPicPr preferRelativeResize="0"/>
          <p:nvPr/>
        </p:nvPicPr>
        <p:blipFill rotWithShape="1">
          <a:blip r:embed="rId4">
            <a:alphaModFix/>
          </a:blip>
          <a:srcRect t="12399" b="12406"/>
          <a:stretch/>
        </p:blipFill>
        <p:spPr>
          <a:xfrm>
            <a:off x="4131700" y="978250"/>
            <a:ext cx="4142050" cy="2335949"/>
          </a:xfrm>
          <a:prstGeom prst="rect">
            <a:avLst/>
          </a:prstGeom>
          <a:noFill/>
          <a:ln>
            <a:noFill/>
          </a:ln>
        </p:spPr>
      </p:pic>
      <p:pic>
        <p:nvPicPr>
          <p:cNvPr id="97" name="Google Shape;97;p14" descr="Portrait-oriented black smaptphone"/>
          <p:cNvPicPr preferRelativeResize="0"/>
          <p:nvPr/>
        </p:nvPicPr>
        <p:blipFill>
          <a:blip r:embed="rId5">
            <a:alphaModFix/>
          </a:blip>
          <a:stretch>
            <a:fillRect/>
          </a:stretch>
        </p:blipFill>
        <p:spPr>
          <a:xfrm>
            <a:off x="7188601" y="1585375"/>
            <a:ext cx="1675825" cy="3291298"/>
          </a:xfrm>
          <a:prstGeom prst="rect">
            <a:avLst/>
          </a:prstGeom>
          <a:noFill/>
          <a:ln>
            <a:noFill/>
          </a:ln>
        </p:spPr>
      </p:pic>
      <p:pic>
        <p:nvPicPr>
          <p:cNvPr id="98" name="Google Shape;98;p14" title="d970459c5c7d296006653d0869c29a8a.jpg"/>
          <p:cNvPicPr preferRelativeResize="0"/>
          <p:nvPr/>
        </p:nvPicPr>
        <p:blipFill rotWithShape="1">
          <a:blip r:embed="rId6">
            <a:alphaModFix/>
          </a:blip>
          <a:srcRect t="6101" b="6110"/>
          <a:stretch/>
        </p:blipFill>
        <p:spPr>
          <a:xfrm>
            <a:off x="7269175" y="1858795"/>
            <a:ext cx="1514675" cy="26927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1000"/>
                                        <p:tgtEl>
                                          <p:spTgt spid="93"/>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94"/>
                                        </p:tgtEl>
                                        <p:attrNameLst>
                                          <p:attrName>style.visibility</p:attrName>
                                        </p:attrNameLst>
                                      </p:cBhvr>
                                      <p:to>
                                        <p:strVal val="visible"/>
                                      </p:to>
                                    </p:set>
                                    <p:anim calcmode="lin" valueType="num">
                                      <p:cBhvr additive="base">
                                        <p:cTn id="10" dur="1000"/>
                                        <p:tgtEl>
                                          <p:spTgt spid="94"/>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6"/>
                                        </p:tgtEl>
                                        <p:attrNameLst>
                                          <p:attrName>style.visibility</p:attrName>
                                        </p:attrNameLst>
                                      </p:cBhvr>
                                      <p:to>
                                        <p:strVal val="visible"/>
                                      </p:to>
                                    </p:set>
                                  </p:childTnLst>
                                </p:cTn>
                              </p:par>
                              <p:par>
                                <p:cTn id="17" presetID="10" presetClass="entr" presetSubtype="0" fill="hold" nodeType="withEffect">
                                  <p:stCondLst>
                                    <p:cond delay="0"/>
                                  </p:stCondLst>
                                  <p:childTnLst>
                                    <p:set>
                                      <p:cBhvr>
                                        <p:cTn id="18" dur="1" fill="hold">
                                          <p:stCondLst>
                                            <p:cond delay="0"/>
                                          </p:stCondLst>
                                        </p:cTn>
                                        <p:tgtEl>
                                          <p:spTgt spid="97"/>
                                        </p:tgtEl>
                                        <p:attrNameLst>
                                          <p:attrName>style.visibility</p:attrName>
                                        </p:attrNameLst>
                                      </p:cBhvr>
                                      <p:to>
                                        <p:strVal val="visible"/>
                                      </p:to>
                                    </p:set>
                                    <p:animEffect transition="in" filter="fade">
                                      <p:cBhvr>
                                        <p:cTn id="19" dur="1000"/>
                                        <p:tgtEl>
                                          <p:spTgt spid="97"/>
                                        </p:tgtEl>
                                      </p:cBhvr>
                                    </p:animEffect>
                                  </p:childTnLst>
                                </p:cTn>
                              </p:par>
                              <p:par>
                                <p:cTn id="20" presetID="2" presetClass="entr" presetSubtype="2" fill="hold" nodeType="withEffect">
                                  <p:stCondLst>
                                    <p:cond delay="0"/>
                                  </p:stCondLst>
                                  <p:childTnLst>
                                    <p:set>
                                      <p:cBhvr>
                                        <p:cTn id="21" dur="1" fill="hold">
                                          <p:stCondLst>
                                            <p:cond delay="0"/>
                                          </p:stCondLst>
                                        </p:cTn>
                                        <p:tgtEl>
                                          <p:spTgt spid="98"/>
                                        </p:tgtEl>
                                        <p:attrNameLst>
                                          <p:attrName>style.visibility</p:attrName>
                                        </p:attrNameLst>
                                      </p:cBhvr>
                                      <p:to>
                                        <p:strVal val="visible"/>
                                      </p:to>
                                    </p:set>
                                    <p:anim calcmode="lin" valueType="num">
                                      <p:cBhvr additive="base">
                                        <p:cTn id="22" dur="1000"/>
                                        <p:tgtEl>
                                          <p:spTgt spid="9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cxnSp>
        <p:nvCxnSpPr>
          <p:cNvPr id="104" name="Google Shape;104;p15"/>
          <p:cNvCxnSpPr/>
          <p:nvPr/>
        </p:nvCxnSpPr>
        <p:spPr>
          <a:xfrm>
            <a:off x="425013" y="2500383"/>
            <a:ext cx="3891000" cy="0"/>
          </a:xfrm>
          <a:prstGeom prst="straightConnector1">
            <a:avLst/>
          </a:prstGeom>
          <a:noFill/>
          <a:ln w="19050" cap="flat" cmpd="sng">
            <a:solidFill>
              <a:schemeClr val="lt2"/>
            </a:solidFill>
            <a:prstDash val="solid"/>
            <a:round/>
            <a:headEnd type="none" w="sm" len="sm"/>
            <a:tailEnd type="none" w="sm" len="sm"/>
          </a:ln>
        </p:spPr>
      </p:cxnSp>
      <p:cxnSp>
        <p:nvCxnSpPr>
          <p:cNvPr id="105" name="Google Shape;105;p15"/>
          <p:cNvCxnSpPr/>
          <p:nvPr/>
        </p:nvCxnSpPr>
        <p:spPr>
          <a:xfrm>
            <a:off x="4941300" y="3724283"/>
            <a:ext cx="3891000" cy="0"/>
          </a:xfrm>
          <a:prstGeom prst="straightConnector1">
            <a:avLst/>
          </a:prstGeom>
          <a:noFill/>
          <a:ln w="19050" cap="flat" cmpd="sng">
            <a:solidFill>
              <a:schemeClr val="lt2"/>
            </a:solidFill>
            <a:prstDash val="solid"/>
            <a:round/>
            <a:headEnd type="none" w="sm" len="sm"/>
            <a:tailEnd type="none" w="sm" len="sm"/>
          </a:ln>
        </p:spPr>
      </p:cxnSp>
      <p:pic>
        <p:nvPicPr>
          <p:cNvPr id="106" name="Google Shape;106;p15" title="b9e59ed454c8c2c9d91fdea9352be161.jpg"/>
          <p:cNvPicPr preferRelativeResize="0"/>
          <p:nvPr/>
        </p:nvPicPr>
        <p:blipFill rotWithShape="1">
          <a:blip r:embed="rId3">
            <a:alphaModFix/>
          </a:blip>
          <a:srcRect t="11473" b="11473"/>
          <a:stretch/>
        </p:blipFill>
        <p:spPr>
          <a:xfrm>
            <a:off x="425023" y="397950"/>
            <a:ext cx="3890969" cy="1998801"/>
          </a:xfrm>
          <a:prstGeom prst="rect">
            <a:avLst/>
          </a:prstGeom>
          <a:noFill/>
          <a:ln>
            <a:noFill/>
          </a:ln>
        </p:spPr>
      </p:pic>
      <p:pic>
        <p:nvPicPr>
          <p:cNvPr id="107" name="Google Shape;107;p15" title="e827d6bd190a8e672557ed568e74e5a8.jpg"/>
          <p:cNvPicPr preferRelativeResize="0"/>
          <p:nvPr/>
        </p:nvPicPr>
        <p:blipFill rotWithShape="1">
          <a:blip r:embed="rId4">
            <a:alphaModFix/>
          </a:blip>
          <a:srcRect t="19016" b="19022"/>
          <a:stretch/>
        </p:blipFill>
        <p:spPr>
          <a:xfrm>
            <a:off x="4941310" y="2867827"/>
            <a:ext cx="1935229" cy="1363931"/>
          </a:xfrm>
          <a:prstGeom prst="rect">
            <a:avLst/>
          </a:prstGeom>
          <a:noFill/>
          <a:ln>
            <a:noFill/>
          </a:ln>
        </p:spPr>
      </p:pic>
      <p:pic>
        <p:nvPicPr>
          <p:cNvPr id="108" name="Google Shape;108;p15" title="e859bc75a828fa0c174d2a6da3bd0d7b.jpg"/>
          <p:cNvPicPr preferRelativeResize="0"/>
          <p:nvPr/>
        </p:nvPicPr>
        <p:blipFill rotWithShape="1">
          <a:blip r:embed="rId5">
            <a:alphaModFix/>
          </a:blip>
          <a:srcRect t="30867" b="30863"/>
          <a:stretch/>
        </p:blipFill>
        <p:spPr>
          <a:xfrm>
            <a:off x="6876555" y="2867839"/>
            <a:ext cx="1851925" cy="1363919"/>
          </a:xfrm>
          <a:prstGeom prst="rect">
            <a:avLst/>
          </a:prstGeom>
          <a:noFill/>
          <a:ln>
            <a:noFill/>
          </a:ln>
        </p:spPr>
      </p:pic>
      <p:sp>
        <p:nvSpPr>
          <p:cNvPr id="109" name="Google Shape;109;p15"/>
          <p:cNvSpPr txBox="1">
            <a:spLocks noGrp="1"/>
          </p:cNvSpPr>
          <p:nvPr>
            <p:ph type="body" idx="4294967295"/>
          </p:nvPr>
        </p:nvSpPr>
        <p:spPr>
          <a:xfrm>
            <a:off x="370563" y="2604000"/>
            <a:ext cx="3999900" cy="530400"/>
          </a:xfrm>
          <a:prstGeom prst="rect">
            <a:avLst/>
          </a:prstGeom>
        </p:spPr>
        <p:txBody>
          <a:bodyPr spcFirstLastPara="1" wrap="square" lIns="91425" tIns="91425" rIns="91425" bIns="91425" anchor="b" anchorCtr="0">
            <a:normAutofit fontScale="25000" lnSpcReduction="20000"/>
          </a:bodyPr>
          <a:lstStyle/>
          <a:p>
            <a:pPr marL="0" lvl="0" indent="0" algn="l" rtl="0">
              <a:spcBef>
                <a:spcPts val="1200"/>
              </a:spcBef>
              <a:spcAft>
                <a:spcPts val="1200"/>
              </a:spcAft>
              <a:buNone/>
            </a:pPr>
            <a:r>
              <a:rPr lang="en" sz="1600" b="1">
                <a:solidFill>
                  <a:schemeClr val="accent4"/>
                </a:solidFill>
                <a:latin typeface="Arial"/>
                <a:ea typeface="Arial"/>
                <a:cs typeface="Arial"/>
                <a:sym typeface="Arial"/>
              </a:rPr>
              <a:t>Objectives</a:t>
            </a:r>
            <a:endParaRPr sz="2600" b="1">
              <a:solidFill>
                <a:schemeClr val="accent4"/>
              </a:solidFill>
            </a:endParaRPr>
          </a:p>
        </p:txBody>
      </p:sp>
      <p:sp>
        <p:nvSpPr>
          <p:cNvPr id="110" name="Google Shape;110;p15"/>
          <p:cNvSpPr txBox="1">
            <a:spLocks noGrp="1"/>
          </p:cNvSpPr>
          <p:nvPr>
            <p:ph type="body" idx="4294967295"/>
          </p:nvPr>
        </p:nvSpPr>
        <p:spPr>
          <a:xfrm>
            <a:off x="185983" y="2763232"/>
            <a:ext cx="3999900" cy="2380267"/>
          </a:xfrm>
          <a:prstGeom prst="rect">
            <a:avLst/>
          </a:prstGeom>
        </p:spPr>
        <p:txBody>
          <a:bodyPr spcFirstLastPara="1" wrap="square" lIns="91425" tIns="91425" rIns="91425" bIns="91425" anchor="t" anchorCtr="0">
            <a:normAutofit fontScale="32500" lnSpcReduction="20000"/>
          </a:bodyPr>
          <a:lstStyle/>
          <a:p>
            <a:pPr marL="457200" lvl="0" indent="-298450" algn="l" rtl="0">
              <a:spcBef>
                <a:spcPts val="1200"/>
              </a:spcBef>
              <a:spcAft>
                <a:spcPts val="0"/>
              </a:spcAft>
              <a:buClr>
                <a:srgbClr val="1155CC"/>
              </a:buClr>
              <a:buSzPct val="100000"/>
              <a:buFont typeface="Arial"/>
              <a:buChar char="●"/>
            </a:pPr>
            <a:r>
              <a:rPr lang="en" sz="4400" dirty="0">
                <a:solidFill>
                  <a:srgbClr val="1155CC"/>
                </a:solidFill>
                <a:latin typeface="Arial"/>
                <a:ea typeface="Arial"/>
                <a:cs typeface="Arial"/>
                <a:sym typeface="Arial"/>
              </a:rPr>
              <a:t>Create a dynamic and user-friendly bike shop website.</a:t>
            </a:r>
            <a:endParaRPr sz="4400" dirty="0">
              <a:solidFill>
                <a:srgbClr val="1155CC"/>
              </a:solidFill>
              <a:latin typeface="Arial"/>
              <a:ea typeface="Arial"/>
              <a:cs typeface="Arial"/>
              <a:sym typeface="Arial"/>
            </a:endParaRPr>
          </a:p>
          <a:p>
            <a:pPr marL="457200" lvl="0" indent="-298450" algn="l" rtl="0">
              <a:spcBef>
                <a:spcPts val="0"/>
              </a:spcBef>
              <a:spcAft>
                <a:spcPts val="0"/>
              </a:spcAft>
              <a:buClr>
                <a:srgbClr val="1155CC"/>
              </a:buClr>
              <a:buSzPct val="100000"/>
              <a:buFont typeface="Arial"/>
              <a:buChar char="●"/>
            </a:pPr>
            <a:r>
              <a:rPr lang="en" sz="4400" dirty="0">
                <a:solidFill>
                  <a:srgbClr val="1155CC"/>
                </a:solidFill>
                <a:latin typeface="Arial"/>
                <a:ea typeface="Arial"/>
                <a:cs typeface="Arial"/>
                <a:sym typeface="Arial"/>
              </a:rPr>
              <a:t>Build an efficient backend database system.</a:t>
            </a:r>
            <a:endParaRPr sz="4400" dirty="0">
              <a:solidFill>
                <a:srgbClr val="1155CC"/>
              </a:solidFill>
              <a:latin typeface="Arial"/>
              <a:ea typeface="Arial"/>
              <a:cs typeface="Arial"/>
              <a:sym typeface="Arial"/>
            </a:endParaRPr>
          </a:p>
          <a:p>
            <a:pPr marL="457200" lvl="0" indent="-298450" algn="l" rtl="0">
              <a:spcBef>
                <a:spcPts val="0"/>
              </a:spcBef>
              <a:spcAft>
                <a:spcPts val="0"/>
              </a:spcAft>
              <a:buClr>
                <a:srgbClr val="1155CC"/>
              </a:buClr>
              <a:buSzPct val="100000"/>
              <a:buFont typeface="Arial"/>
              <a:buChar char="●"/>
            </a:pPr>
            <a:r>
              <a:rPr lang="en" sz="4400" dirty="0">
                <a:solidFill>
                  <a:srgbClr val="1155CC"/>
                </a:solidFill>
                <a:latin typeface="Arial"/>
                <a:ea typeface="Arial"/>
                <a:cs typeface="Arial"/>
                <a:sym typeface="Arial"/>
              </a:rPr>
              <a:t>Enable modern features: bike view, product comparison, low stock alerts.</a:t>
            </a:r>
            <a:endParaRPr sz="4400" dirty="0">
              <a:solidFill>
                <a:srgbClr val="1155CC"/>
              </a:solidFill>
              <a:latin typeface="Arial"/>
              <a:ea typeface="Arial"/>
              <a:cs typeface="Arial"/>
              <a:sym typeface="Arial"/>
            </a:endParaRPr>
          </a:p>
          <a:p>
            <a:pPr marL="457200" lvl="0" indent="-298450" algn="l" rtl="0">
              <a:spcBef>
                <a:spcPts val="0"/>
              </a:spcBef>
              <a:spcAft>
                <a:spcPts val="0"/>
              </a:spcAft>
              <a:buClr>
                <a:srgbClr val="1155CC"/>
              </a:buClr>
              <a:buSzPct val="100000"/>
              <a:buFont typeface="Arial"/>
              <a:buChar char="●"/>
            </a:pPr>
            <a:r>
              <a:rPr lang="en" sz="4400" dirty="0">
                <a:solidFill>
                  <a:srgbClr val="1155CC"/>
                </a:solidFill>
                <a:latin typeface="Arial"/>
                <a:ea typeface="Arial"/>
                <a:cs typeface="Arial"/>
                <a:sym typeface="Arial"/>
              </a:rPr>
              <a:t>Integrate customer communication: email, WhatsApp.</a:t>
            </a:r>
            <a:endParaRPr sz="4400" dirty="0">
              <a:solidFill>
                <a:srgbClr val="1155CC"/>
              </a:solidFill>
              <a:latin typeface="Arial"/>
              <a:ea typeface="Arial"/>
              <a:cs typeface="Arial"/>
              <a:sym typeface="Arial"/>
            </a:endParaRPr>
          </a:p>
          <a:p>
            <a:pPr marL="457200" lvl="0" indent="-298450" algn="l" rtl="0">
              <a:spcBef>
                <a:spcPts val="0"/>
              </a:spcBef>
              <a:spcAft>
                <a:spcPts val="0"/>
              </a:spcAft>
              <a:buClr>
                <a:srgbClr val="1155CC"/>
              </a:buClr>
              <a:buSzPct val="100000"/>
              <a:buFont typeface="Arial"/>
              <a:buChar char="●"/>
            </a:pPr>
            <a:r>
              <a:rPr lang="en" sz="4400" dirty="0">
                <a:solidFill>
                  <a:srgbClr val="1155CC"/>
                </a:solidFill>
                <a:latin typeface="Arial"/>
                <a:ea typeface="Arial"/>
                <a:cs typeface="Arial"/>
                <a:sym typeface="Arial"/>
              </a:rPr>
              <a:t>Ensure accurate data through improved database architecture.</a:t>
            </a:r>
            <a:endParaRPr sz="4400" dirty="0">
              <a:solidFill>
                <a:srgbClr val="1155CC"/>
              </a:solidFill>
              <a:latin typeface="Arial"/>
              <a:ea typeface="Arial"/>
              <a:cs typeface="Arial"/>
              <a:sym typeface="Arial"/>
            </a:endParaRPr>
          </a:p>
          <a:p>
            <a:pPr marL="0" lvl="0" indent="0" algn="l" rtl="0">
              <a:spcBef>
                <a:spcPts val="1200"/>
              </a:spcBef>
              <a:spcAft>
                <a:spcPts val="1200"/>
              </a:spcAft>
              <a:buNone/>
            </a:pPr>
            <a:endParaRPr sz="1200" dirty="0"/>
          </a:p>
        </p:txBody>
      </p:sp>
      <p:sp>
        <p:nvSpPr>
          <p:cNvPr id="111" name="Google Shape;111;p15"/>
          <p:cNvSpPr txBox="1">
            <a:spLocks noGrp="1"/>
          </p:cNvSpPr>
          <p:nvPr>
            <p:ph type="body" idx="4294967295"/>
          </p:nvPr>
        </p:nvSpPr>
        <p:spPr>
          <a:xfrm>
            <a:off x="4776400" y="397950"/>
            <a:ext cx="3999900" cy="530400"/>
          </a:xfrm>
          <a:prstGeom prst="rect">
            <a:avLst/>
          </a:prstGeom>
        </p:spPr>
        <p:txBody>
          <a:bodyPr spcFirstLastPara="1" wrap="square" lIns="91425" tIns="91425" rIns="91425" bIns="91425" anchor="b" anchorCtr="0">
            <a:normAutofit fontScale="25000" lnSpcReduction="20000"/>
          </a:bodyPr>
          <a:lstStyle/>
          <a:p>
            <a:pPr marL="0" lvl="0" indent="0" algn="l" rtl="0">
              <a:spcBef>
                <a:spcPts val="1200"/>
              </a:spcBef>
              <a:spcAft>
                <a:spcPts val="0"/>
              </a:spcAft>
              <a:buNone/>
            </a:pPr>
            <a:r>
              <a:rPr lang="en" sz="6400" b="1">
                <a:solidFill>
                  <a:srgbClr val="A61C00"/>
                </a:solidFill>
                <a:latin typeface="Arial"/>
                <a:ea typeface="Arial"/>
                <a:cs typeface="Arial"/>
                <a:sym typeface="Arial"/>
              </a:rPr>
              <a:t>Project Overview</a:t>
            </a:r>
            <a:endParaRPr sz="6400" b="1">
              <a:solidFill>
                <a:srgbClr val="A61C00"/>
              </a:solidFill>
              <a:latin typeface="Arial"/>
              <a:ea typeface="Arial"/>
              <a:cs typeface="Arial"/>
              <a:sym typeface="Arial"/>
            </a:endParaRPr>
          </a:p>
          <a:p>
            <a:pPr marL="0" lvl="0" indent="0" algn="l" rtl="0">
              <a:lnSpc>
                <a:spcPct val="100000"/>
              </a:lnSpc>
              <a:spcBef>
                <a:spcPts val="1200"/>
              </a:spcBef>
              <a:spcAft>
                <a:spcPts val="0"/>
              </a:spcAft>
              <a:buNone/>
            </a:pPr>
            <a:endParaRPr sz="2100" b="1">
              <a:solidFill>
                <a:schemeClr val="accent3"/>
              </a:solidFill>
            </a:endParaRPr>
          </a:p>
        </p:txBody>
      </p:sp>
      <p:sp>
        <p:nvSpPr>
          <p:cNvPr id="112" name="Google Shape;112;p15"/>
          <p:cNvSpPr txBox="1">
            <a:spLocks noGrp="1"/>
          </p:cNvSpPr>
          <p:nvPr>
            <p:ph type="body" idx="4294967295"/>
          </p:nvPr>
        </p:nvSpPr>
        <p:spPr>
          <a:xfrm>
            <a:off x="4697250" y="631950"/>
            <a:ext cx="3999900" cy="2415300"/>
          </a:xfrm>
          <a:prstGeom prst="rect">
            <a:avLst/>
          </a:prstGeom>
        </p:spPr>
        <p:txBody>
          <a:bodyPr spcFirstLastPara="1" wrap="square" lIns="91425" tIns="91425" rIns="91425" bIns="91425" anchor="t" anchorCtr="0">
            <a:normAutofit fontScale="40000" lnSpcReduction="20000"/>
          </a:bodyPr>
          <a:lstStyle/>
          <a:p>
            <a:pPr marL="457200" lvl="0" indent="-330200" algn="l" rtl="0">
              <a:spcBef>
                <a:spcPts val="1200"/>
              </a:spcBef>
              <a:spcAft>
                <a:spcPts val="0"/>
              </a:spcAft>
              <a:buClr>
                <a:schemeClr val="dk1"/>
              </a:buClr>
              <a:buSzPct val="100000"/>
              <a:buFont typeface="Arial"/>
              <a:buChar char="●"/>
            </a:pPr>
            <a:r>
              <a:rPr lang="en" sz="4000">
                <a:solidFill>
                  <a:schemeClr val="dk1"/>
                </a:solidFill>
              </a:rPr>
              <a:t>A web-based system to manage bike shop operations.</a:t>
            </a:r>
            <a:endParaRPr sz="4000">
              <a:solidFill>
                <a:schemeClr val="dk1"/>
              </a:solidFill>
            </a:endParaRPr>
          </a:p>
          <a:p>
            <a:pPr marL="457200" lvl="0" indent="-330200" algn="l" rtl="0">
              <a:spcBef>
                <a:spcPts val="0"/>
              </a:spcBef>
              <a:spcAft>
                <a:spcPts val="0"/>
              </a:spcAft>
              <a:buClr>
                <a:schemeClr val="dk1"/>
              </a:buClr>
              <a:buSzPct val="100000"/>
              <a:buFont typeface="Arial"/>
              <a:buChar char="●"/>
            </a:pPr>
            <a:r>
              <a:rPr lang="en" sz="4000">
                <a:solidFill>
                  <a:schemeClr val="dk1"/>
                </a:solidFill>
              </a:rPr>
              <a:t>Automates product management, customer interaction, sales tracking, and report generation.</a:t>
            </a:r>
            <a:endParaRPr sz="4000">
              <a:solidFill>
                <a:schemeClr val="dk1"/>
              </a:solidFill>
            </a:endParaRPr>
          </a:p>
          <a:p>
            <a:pPr marL="457200" lvl="0" indent="-330200" algn="l" rtl="0">
              <a:spcBef>
                <a:spcPts val="0"/>
              </a:spcBef>
              <a:spcAft>
                <a:spcPts val="0"/>
              </a:spcAft>
              <a:buClr>
                <a:schemeClr val="dk1"/>
              </a:buClr>
              <a:buSzPct val="100000"/>
              <a:buFont typeface="Arial"/>
              <a:buChar char="●"/>
            </a:pPr>
            <a:r>
              <a:rPr lang="en" sz="4000">
                <a:solidFill>
                  <a:schemeClr val="dk1"/>
                </a:solidFill>
              </a:rPr>
              <a:t>Aims to improve efficiency, reduce manual workload, and deliver better user experience.</a:t>
            </a:r>
            <a:endParaRPr sz="4000">
              <a:solidFill>
                <a:schemeClr val="dk1"/>
              </a:solidFill>
            </a:endParaRPr>
          </a:p>
          <a:p>
            <a:pPr marL="0" lvl="0" indent="0" algn="l" rtl="0">
              <a:spcBef>
                <a:spcPts val="1200"/>
              </a:spcBef>
              <a:spcAft>
                <a:spcPts val="1200"/>
              </a:spcAft>
              <a:buNone/>
            </a:pP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10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1"/>
                                        </p:tgtEl>
                                        <p:attrNameLst>
                                          <p:attrName>style.visibility</p:attrName>
                                        </p:attrNameLst>
                                      </p:cBhvr>
                                      <p:to>
                                        <p:strVal val="visible"/>
                                      </p:to>
                                    </p:set>
                                    <p:animEffect transition="in" filter="fade">
                                      <p:cBhvr>
                                        <p:cTn id="12" dur="1000"/>
                                        <p:tgtEl>
                                          <p:spTgt spid="11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2"/>
                                        </p:tgtEl>
                                        <p:attrNameLst>
                                          <p:attrName>style.visibility</p:attrName>
                                        </p:attrNameLst>
                                      </p:cBhvr>
                                      <p:to>
                                        <p:strVal val="visible"/>
                                      </p:to>
                                    </p:set>
                                    <p:anim calcmode="lin" valueType="num">
                                      <p:cBhvr additive="base">
                                        <p:cTn id="17" dur="1000"/>
                                        <p:tgtEl>
                                          <p:spTgt spid="112"/>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1" fill="hold" nodeType="clickEffect">
                                  <p:stCondLst>
                                    <p:cond delay="0"/>
                                  </p:stCondLst>
                                  <p:childTnLst>
                                    <p:set>
                                      <p:cBhvr>
                                        <p:cTn id="21" dur="1" fill="hold">
                                          <p:stCondLst>
                                            <p:cond delay="0"/>
                                          </p:stCondLst>
                                        </p:cTn>
                                        <p:tgtEl>
                                          <p:spTgt spid="109"/>
                                        </p:tgtEl>
                                        <p:attrNameLst>
                                          <p:attrName>style.visibility</p:attrName>
                                        </p:attrNameLst>
                                      </p:cBhvr>
                                      <p:to>
                                        <p:strVal val="visible"/>
                                      </p:to>
                                    </p:set>
                                    <p:anim calcmode="lin" valueType="num">
                                      <p:cBhvr additive="base">
                                        <p:cTn id="22" dur="1000"/>
                                        <p:tgtEl>
                                          <p:spTgt spid="10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110"/>
                                        </p:tgtEl>
                                        <p:attrNameLst>
                                          <p:attrName>style.visibility</p:attrName>
                                        </p:attrNameLst>
                                      </p:cBhvr>
                                      <p:to>
                                        <p:strVal val="visible"/>
                                      </p:to>
                                    </p:set>
                                    <p:anim calcmode="lin" valueType="num">
                                      <p:cBhvr additive="base">
                                        <p:cTn id="27" dur="1000"/>
                                        <p:tgtEl>
                                          <p:spTgt spid="110"/>
                                        </p:tgtEl>
                                        <p:attrNameLst>
                                          <p:attrName>ppt_w</p:attrName>
                                        </p:attrNameLst>
                                      </p:cBhvr>
                                      <p:tavLst>
                                        <p:tav tm="0">
                                          <p:val>
                                            <p:strVal val="0"/>
                                          </p:val>
                                        </p:tav>
                                        <p:tav tm="100000">
                                          <p:val>
                                            <p:strVal val="#ppt_w"/>
                                          </p:val>
                                        </p:tav>
                                      </p:tavLst>
                                    </p:anim>
                                    <p:anim calcmode="lin" valueType="num">
                                      <p:cBhvr additive="base">
                                        <p:cTn id="28" dur="1000"/>
                                        <p:tgtEl>
                                          <p:spTgt spid="110"/>
                                        </p:tgtEl>
                                        <p:attrNameLst>
                                          <p:attrName>ppt_h</p:attrName>
                                        </p:attrNameLst>
                                      </p:cBhvr>
                                      <p:tavLst>
                                        <p:tav tm="0">
                                          <p:val>
                                            <p:str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07"/>
                                        </p:tgtEl>
                                        <p:attrNameLst>
                                          <p:attrName>style.visibility</p:attrName>
                                        </p:attrNameLst>
                                      </p:cBhvr>
                                      <p:to>
                                        <p:strVal val="visible"/>
                                      </p:to>
                                    </p:set>
                                    <p:anim calcmode="lin" valueType="num">
                                      <p:cBhvr additive="base">
                                        <p:cTn id="33" dur="1000"/>
                                        <p:tgtEl>
                                          <p:spTgt spid="10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8"/>
                                        </p:tgtEl>
                                        <p:attrNameLst>
                                          <p:attrName>style.visibility</p:attrName>
                                        </p:attrNameLst>
                                      </p:cBhvr>
                                      <p:to>
                                        <p:strVal val="visible"/>
                                      </p:to>
                                    </p:set>
                                    <p:animEffect transition="in" filter="fade">
                                      <p:cBhvr>
                                        <p:cTn id="38" dur="10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179025" y="1714675"/>
            <a:ext cx="4045200" cy="15096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0"/>
              </a:spcBef>
              <a:spcAft>
                <a:spcPts val="0"/>
              </a:spcAft>
              <a:buNone/>
            </a:pPr>
            <a:r>
              <a:rPr lang="en" sz="1600" b="1" u="sng">
                <a:solidFill>
                  <a:srgbClr val="000000"/>
                </a:solidFill>
                <a:latin typeface="Arial"/>
                <a:ea typeface="Arial"/>
                <a:cs typeface="Arial"/>
                <a:sym typeface="Arial"/>
              </a:rPr>
              <a:t>User Interface features:</a:t>
            </a:r>
            <a:endParaRPr sz="1600" b="1" u="sng">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sz="12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Home page</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Login and signup option</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Navigation bar with multiple options</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Dropdown menus to make user experience easy</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Show products of different categories and brands</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Search bar and Sidebar to filter result of shown product</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See cart</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Password change option for user</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Discount and book products option for logged in users</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Contact with customers through email (and contact_no)</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Product compare option</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Lot of brands and products for user to choose from</a:t>
            </a:r>
            <a:endParaRPr sz="1300">
              <a:solidFill>
                <a:srgbClr val="000000"/>
              </a:solidFill>
              <a:latin typeface="Arial"/>
              <a:ea typeface="Arial"/>
              <a:cs typeface="Arial"/>
              <a:sym typeface="Arial"/>
            </a:endParaRPr>
          </a:p>
          <a:p>
            <a:pPr marL="457200" lvl="0" indent="-302895" algn="l" rtl="0">
              <a:lnSpc>
                <a:spcPct val="115000"/>
              </a:lnSpc>
              <a:spcBef>
                <a:spcPts val="0"/>
              </a:spcBef>
              <a:spcAft>
                <a:spcPts val="0"/>
              </a:spcAft>
              <a:buClr>
                <a:srgbClr val="000000"/>
              </a:buClr>
              <a:buSzPct val="100000"/>
              <a:buFont typeface="Arial"/>
              <a:buAutoNum type="arabicPeriod"/>
            </a:pPr>
            <a:r>
              <a:rPr lang="en" sz="1300">
                <a:solidFill>
                  <a:srgbClr val="000000"/>
                </a:solidFill>
                <a:latin typeface="Arial"/>
                <a:ea typeface="Arial"/>
                <a:cs typeface="Arial"/>
                <a:sym typeface="Arial"/>
              </a:rPr>
              <a:t>Classic design for each part of the website</a:t>
            </a:r>
            <a:endParaRPr sz="1300"/>
          </a:p>
        </p:txBody>
      </p:sp>
      <p:sp>
        <p:nvSpPr>
          <p:cNvPr id="119" name="Google Shape;119;p16"/>
          <p:cNvSpPr txBox="1">
            <a:spLocks noGrp="1"/>
          </p:cNvSpPr>
          <p:nvPr>
            <p:ph type="body" idx="2"/>
          </p:nvPr>
        </p:nvSpPr>
        <p:spPr>
          <a:xfrm>
            <a:off x="4869775" y="133675"/>
            <a:ext cx="4045200" cy="3888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1600" b="1" u="sng">
                <a:latin typeface="Arial"/>
                <a:ea typeface="Arial"/>
                <a:cs typeface="Arial"/>
                <a:sym typeface="Arial"/>
              </a:rPr>
              <a:t>Manager Interface features:</a:t>
            </a:r>
            <a:endParaRPr sz="1600" b="1" u="sng">
              <a:latin typeface="Arial"/>
              <a:ea typeface="Arial"/>
              <a:cs typeface="Arial"/>
              <a:sym typeface="Arial"/>
            </a:endParaRPr>
          </a:p>
          <a:p>
            <a:pPr marL="0" lvl="0" indent="0" algn="l" rtl="0">
              <a:spcBef>
                <a:spcPts val="0"/>
              </a:spcBef>
              <a:spcAft>
                <a:spcPts val="0"/>
              </a:spcAft>
              <a:buNone/>
            </a:pPr>
            <a:endParaRPr sz="1100" b="1" u="sng">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 sz="1100">
                <a:latin typeface="Arial"/>
                <a:ea typeface="Arial"/>
                <a:cs typeface="Arial"/>
                <a:sym typeface="Arial"/>
              </a:rPr>
              <a:t>Home page</a:t>
            </a:r>
            <a:endParaRPr sz="110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 sz="1100">
                <a:latin typeface="Arial"/>
                <a:ea typeface="Arial"/>
                <a:cs typeface="Arial"/>
                <a:sym typeface="Arial"/>
              </a:rPr>
              <a:t>Login and signup option</a:t>
            </a:r>
            <a:endParaRPr sz="110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 sz="1100">
                <a:latin typeface="Arial"/>
                <a:ea typeface="Arial"/>
                <a:cs typeface="Arial"/>
                <a:sym typeface="Arial"/>
              </a:rPr>
              <a:t>Sidebar design for different task</a:t>
            </a:r>
            <a:endParaRPr sz="1100">
              <a:latin typeface="Arial"/>
              <a:ea typeface="Arial"/>
              <a:cs typeface="Arial"/>
              <a:sym typeface="Arial"/>
            </a:endParaRPr>
          </a:p>
          <a:p>
            <a:pPr marL="914400" lvl="0" indent="-298450" algn="l" rtl="0">
              <a:spcBef>
                <a:spcPts val="0"/>
              </a:spcBef>
              <a:spcAft>
                <a:spcPts val="0"/>
              </a:spcAft>
              <a:buSzPts val="1100"/>
              <a:buFont typeface="Arial"/>
              <a:buChar char="●"/>
            </a:pPr>
            <a:r>
              <a:rPr lang="en" sz="1100">
                <a:latin typeface="Arial"/>
                <a:ea typeface="Arial"/>
                <a:cs typeface="Arial"/>
                <a:sym typeface="Arial"/>
              </a:rPr>
              <a:t>Add, update, delete new products to the shop</a:t>
            </a:r>
            <a:endParaRPr sz="1100">
              <a:latin typeface="Arial"/>
              <a:ea typeface="Arial"/>
              <a:cs typeface="Arial"/>
              <a:sym typeface="Arial"/>
            </a:endParaRPr>
          </a:p>
          <a:p>
            <a:pPr marL="914400" lvl="0" indent="-298450" algn="l" rtl="0">
              <a:spcBef>
                <a:spcPts val="0"/>
              </a:spcBef>
              <a:spcAft>
                <a:spcPts val="0"/>
              </a:spcAft>
              <a:buSzPts val="1100"/>
              <a:buFont typeface="Arial"/>
              <a:buChar char="●"/>
            </a:pPr>
            <a:r>
              <a:rPr lang="en" sz="1100">
                <a:latin typeface="Arial"/>
                <a:ea typeface="Arial"/>
                <a:cs typeface="Arial"/>
                <a:sym typeface="Arial"/>
              </a:rPr>
              <a:t>Save information of the sold products</a:t>
            </a:r>
            <a:endParaRPr sz="1100">
              <a:latin typeface="Arial"/>
              <a:ea typeface="Arial"/>
              <a:cs typeface="Arial"/>
              <a:sym typeface="Arial"/>
            </a:endParaRPr>
          </a:p>
          <a:p>
            <a:pPr marL="914400" lvl="0" indent="-298450" algn="l" rtl="0">
              <a:spcBef>
                <a:spcPts val="0"/>
              </a:spcBef>
              <a:spcAft>
                <a:spcPts val="0"/>
              </a:spcAft>
              <a:buSzPts val="1100"/>
              <a:buFont typeface="Arial"/>
              <a:buChar char="●"/>
            </a:pPr>
            <a:r>
              <a:rPr lang="en" sz="1100">
                <a:latin typeface="Arial"/>
                <a:ea typeface="Arial"/>
                <a:cs typeface="Arial"/>
                <a:sym typeface="Arial"/>
              </a:rPr>
              <a:t>See product and user/customers information</a:t>
            </a:r>
            <a:endParaRPr sz="1100">
              <a:latin typeface="Arial"/>
              <a:ea typeface="Arial"/>
              <a:cs typeface="Arial"/>
              <a:sym typeface="Arial"/>
            </a:endParaRPr>
          </a:p>
          <a:p>
            <a:pPr marL="914400" lvl="0" indent="-298450" algn="l" rtl="0">
              <a:spcBef>
                <a:spcPts val="0"/>
              </a:spcBef>
              <a:spcAft>
                <a:spcPts val="0"/>
              </a:spcAft>
              <a:buSzPts val="1100"/>
              <a:buFont typeface="Arial"/>
              <a:buChar char="●"/>
            </a:pPr>
            <a:r>
              <a:rPr lang="en" sz="1100">
                <a:latin typeface="Arial"/>
                <a:ea typeface="Arial"/>
                <a:cs typeface="Arial"/>
                <a:sym typeface="Arial"/>
              </a:rPr>
              <a:t>Sold and booked products</a:t>
            </a:r>
            <a:endParaRPr sz="1100">
              <a:latin typeface="Arial"/>
              <a:ea typeface="Arial"/>
              <a:cs typeface="Arial"/>
              <a:sym typeface="Arial"/>
            </a:endParaRPr>
          </a:p>
          <a:p>
            <a:pPr marL="914400" lvl="0" indent="-298450" algn="l" rtl="0">
              <a:spcBef>
                <a:spcPts val="0"/>
              </a:spcBef>
              <a:spcAft>
                <a:spcPts val="0"/>
              </a:spcAft>
              <a:buSzPts val="1100"/>
              <a:buFont typeface="Arial"/>
              <a:buChar char="●"/>
            </a:pPr>
            <a:r>
              <a:rPr lang="en" sz="1100">
                <a:latin typeface="Arial"/>
                <a:ea typeface="Arial"/>
                <a:cs typeface="Arial"/>
                <a:sym typeface="Arial"/>
              </a:rPr>
              <a:t>See total monthly, yearly sell and keep track</a:t>
            </a:r>
            <a:endParaRPr sz="1100">
              <a:latin typeface="Arial"/>
              <a:ea typeface="Arial"/>
              <a:cs typeface="Arial"/>
              <a:sym typeface="Arial"/>
            </a:endParaRPr>
          </a:p>
          <a:p>
            <a:pPr marL="914400" lvl="0" indent="-298450" algn="l" rtl="0">
              <a:spcBef>
                <a:spcPts val="0"/>
              </a:spcBef>
              <a:spcAft>
                <a:spcPts val="0"/>
              </a:spcAft>
              <a:buSzPts val="1100"/>
              <a:buFont typeface="Arial"/>
              <a:buChar char="●"/>
            </a:pPr>
            <a:r>
              <a:rPr lang="en" sz="1100">
                <a:latin typeface="Arial"/>
                <a:ea typeface="Arial"/>
                <a:cs typeface="Arial"/>
                <a:sym typeface="Arial"/>
              </a:rPr>
              <a:t>See best selling product</a:t>
            </a:r>
            <a:endParaRPr sz="1100">
              <a:latin typeface="Arial"/>
              <a:ea typeface="Arial"/>
              <a:cs typeface="Arial"/>
              <a:sym typeface="Arial"/>
            </a:endParaRPr>
          </a:p>
          <a:p>
            <a:pPr marL="914400" lvl="0" indent="-298450" algn="l" rtl="0">
              <a:spcBef>
                <a:spcPts val="0"/>
              </a:spcBef>
              <a:spcAft>
                <a:spcPts val="0"/>
              </a:spcAft>
              <a:buSzPts val="1100"/>
              <a:buFont typeface="Arial"/>
              <a:buChar char="●"/>
            </a:pPr>
            <a:r>
              <a:rPr lang="en" sz="1100">
                <a:latin typeface="Arial"/>
                <a:ea typeface="Arial"/>
                <a:cs typeface="Arial"/>
                <a:sym typeface="Arial"/>
              </a:rPr>
              <a:t>Update/create discount for any product</a:t>
            </a:r>
            <a:endParaRPr sz="1100">
              <a:latin typeface="Arial"/>
              <a:ea typeface="Arial"/>
              <a:cs typeface="Arial"/>
              <a:sym typeface="Arial"/>
            </a:endParaRPr>
          </a:p>
          <a:p>
            <a:pPr marL="914400" lvl="0" indent="-298450" algn="l" rtl="0">
              <a:spcBef>
                <a:spcPts val="0"/>
              </a:spcBef>
              <a:spcAft>
                <a:spcPts val="0"/>
              </a:spcAft>
              <a:buSzPts val="1100"/>
              <a:buFont typeface="Arial"/>
              <a:buChar char="●"/>
            </a:pPr>
            <a:r>
              <a:rPr lang="en" sz="1100">
                <a:latin typeface="Arial"/>
                <a:ea typeface="Arial"/>
                <a:cs typeface="Arial"/>
                <a:sym typeface="Arial"/>
              </a:rPr>
              <a:t>Print invoice/create pdf</a:t>
            </a:r>
            <a:endParaRPr sz="1100" b="1">
              <a:latin typeface="Arial"/>
              <a:ea typeface="Arial"/>
              <a:cs typeface="Arial"/>
              <a:sym typeface="Arial"/>
            </a:endParaRPr>
          </a:p>
          <a:p>
            <a:pPr marL="0" lvl="0" indent="0" algn="l" rtl="0">
              <a:spcBef>
                <a:spcPts val="0"/>
              </a:spcBef>
              <a:spcAft>
                <a:spcPts val="1200"/>
              </a:spcAft>
              <a:buNone/>
            </a:pPr>
            <a:endParaRPr b="1"/>
          </a:p>
        </p:txBody>
      </p:sp>
      <p:sp>
        <p:nvSpPr>
          <p:cNvPr id="120" name="Google Shape;120;p16"/>
          <p:cNvSpPr txBox="1"/>
          <p:nvPr/>
        </p:nvSpPr>
        <p:spPr>
          <a:xfrm>
            <a:off x="5027250" y="4335650"/>
            <a:ext cx="3887700" cy="503184"/>
          </a:xfrm>
          <a:prstGeom prst="rect">
            <a:avLst/>
          </a:prstGeom>
          <a:solidFill>
            <a:schemeClr val="dk1"/>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800" dirty="0">
              <a:solidFill>
                <a:schemeClr val="lt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1000"/>
                                        <p:tgtEl>
                                          <p:spTgt spid="1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9"/>
                                        </p:tgtEl>
                                        <p:attrNameLst>
                                          <p:attrName>style.visibility</p:attrName>
                                        </p:attrNameLst>
                                      </p:cBhvr>
                                      <p:to>
                                        <p:strVal val="visible"/>
                                      </p:to>
                                    </p:set>
                                    <p:anim calcmode="lin" valueType="num">
                                      <p:cBhvr additive="base">
                                        <p:cTn id="12" dur="1000"/>
                                        <p:tgtEl>
                                          <p:spTgt spid="1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124"/>
        <p:cNvGrpSpPr/>
        <p:nvPr/>
      </p:nvGrpSpPr>
      <p:grpSpPr>
        <a:xfrm>
          <a:off x="0" y="0"/>
          <a:ext cx="0" cy="0"/>
          <a:chOff x="0" y="0"/>
          <a:chExt cx="0" cy="0"/>
        </a:xfrm>
      </p:grpSpPr>
      <p:sp>
        <p:nvSpPr>
          <p:cNvPr id="125" name="Google Shape;125;p17"/>
          <p:cNvSpPr txBox="1">
            <a:spLocks noGrp="1"/>
          </p:cNvSpPr>
          <p:nvPr>
            <p:ph type="title"/>
          </p:nvPr>
        </p:nvSpPr>
        <p:spPr>
          <a:xfrm>
            <a:off x="403748" y="526350"/>
            <a:ext cx="5699339" cy="4090800"/>
          </a:xfrm>
          <a:prstGeom prst="rect">
            <a:avLst/>
          </a:prstGeom>
        </p:spPr>
        <p:txBody>
          <a:bodyPr spcFirstLastPara="1" wrap="square" lIns="91425" tIns="91425" rIns="91425" bIns="91425" anchor="ctr" anchorCtr="0">
            <a:normAutofit/>
          </a:bodyPr>
          <a:lstStyle/>
          <a:p>
            <a:pPr marL="0" lvl="0" indent="0" algn="l" rtl="0">
              <a:lnSpc>
                <a:spcPct val="115000"/>
              </a:lnSpc>
              <a:spcBef>
                <a:spcPts val="1200"/>
              </a:spcBef>
              <a:spcAft>
                <a:spcPts val="0"/>
              </a:spcAft>
              <a:buNone/>
            </a:pPr>
            <a:r>
              <a:rPr lang="en" sz="1800" b="1" dirty="0">
                <a:latin typeface="Arial"/>
                <a:ea typeface="Arial"/>
                <a:cs typeface="Arial"/>
                <a:sym typeface="Arial"/>
              </a:rPr>
              <a:t>Technical Specifications</a:t>
            </a:r>
            <a:endParaRPr sz="1800" b="1" dirty="0">
              <a:latin typeface="Arial"/>
              <a:ea typeface="Arial"/>
              <a:cs typeface="Arial"/>
              <a:sym typeface="Arial"/>
            </a:endParaRPr>
          </a:p>
          <a:p>
            <a:pPr marL="457200" lvl="0" indent="-342900" algn="l" rtl="0">
              <a:lnSpc>
                <a:spcPct val="115000"/>
              </a:lnSpc>
              <a:spcBef>
                <a:spcPts val="1200"/>
              </a:spcBef>
              <a:spcAft>
                <a:spcPts val="0"/>
              </a:spcAft>
              <a:buClr>
                <a:schemeClr val="lt1"/>
              </a:buClr>
              <a:buSzPts val="1800"/>
              <a:buFont typeface="Arial"/>
              <a:buChar char="●"/>
            </a:pPr>
            <a:r>
              <a:rPr lang="en" sz="1800" b="1" dirty="0">
                <a:latin typeface="Arial"/>
                <a:ea typeface="Arial"/>
                <a:cs typeface="Arial"/>
                <a:sym typeface="Arial"/>
              </a:rPr>
              <a:t>Frontend:</a:t>
            </a:r>
            <a:r>
              <a:rPr lang="en" sz="1800" dirty="0">
                <a:latin typeface="Arial"/>
                <a:ea typeface="Arial"/>
                <a:cs typeface="Arial"/>
                <a:sym typeface="Arial"/>
              </a:rPr>
              <a:t> </a:t>
            </a:r>
            <a:r>
              <a:rPr lang="en" sz="1800" dirty="0" smtClean="0">
                <a:latin typeface="Arial"/>
                <a:ea typeface="Arial"/>
                <a:cs typeface="Arial"/>
                <a:sym typeface="Arial"/>
              </a:rPr>
              <a:t>HTML ( Webpage tables &amp; structures), CSS ( Basic styling )</a:t>
            </a:r>
            <a:endParaRPr sz="1800" dirty="0">
              <a:latin typeface="Arial"/>
              <a:ea typeface="Arial"/>
              <a:cs typeface="Arial"/>
              <a:sym typeface="Arial"/>
            </a:endParaRPr>
          </a:p>
          <a:p>
            <a:pPr marL="457200" lvl="0" indent="-342900" algn="l" rtl="0">
              <a:lnSpc>
                <a:spcPct val="115000"/>
              </a:lnSpc>
              <a:spcBef>
                <a:spcPts val="0"/>
              </a:spcBef>
              <a:spcAft>
                <a:spcPts val="0"/>
              </a:spcAft>
              <a:buClr>
                <a:schemeClr val="lt1"/>
              </a:buClr>
              <a:buSzPts val="1800"/>
              <a:buFont typeface="Arial"/>
              <a:buChar char="●"/>
            </a:pPr>
            <a:r>
              <a:rPr lang="en" sz="1800" b="1" dirty="0">
                <a:latin typeface="Arial"/>
                <a:ea typeface="Arial"/>
                <a:cs typeface="Arial"/>
                <a:sym typeface="Arial"/>
              </a:rPr>
              <a:t>Backend:</a:t>
            </a:r>
            <a:r>
              <a:rPr lang="en" sz="1800" dirty="0">
                <a:latin typeface="Arial"/>
                <a:ea typeface="Arial"/>
                <a:cs typeface="Arial"/>
                <a:sym typeface="Arial"/>
              </a:rPr>
              <a:t> </a:t>
            </a:r>
            <a:r>
              <a:rPr lang="en" sz="1800" dirty="0" smtClean="0">
                <a:latin typeface="Arial"/>
                <a:ea typeface="Arial"/>
                <a:cs typeface="Arial"/>
                <a:sym typeface="Arial"/>
              </a:rPr>
              <a:t>PHP ( Server side logic, request handling and database operations ),  JS               ( Rendering dynamic content and tracking user interactions )</a:t>
            </a:r>
            <a:endParaRPr sz="1800" dirty="0">
              <a:latin typeface="Arial"/>
              <a:ea typeface="Arial"/>
              <a:cs typeface="Arial"/>
              <a:sym typeface="Arial"/>
            </a:endParaRPr>
          </a:p>
          <a:p>
            <a:pPr marL="457200" lvl="0" indent="-342900" algn="l" rtl="0">
              <a:lnSpc>
                <a:spcPct val="115000"/>
              </a:lnSpc>
              <a:spcBef>
                <a:spcPts val="0"/>
              </a:spcBef>
              <a:spcAft>
                <a:spcPts val="0"/>
              </a:spcAft>
              <a:buClr>
                <a:schemeClr val="lt1"/>
              </a:buClr>
              <a:buSzPts val="1800"/>
              <a:buFont typeface="Arial"/>
              <a:buChar char="●"/>
            </a:pPr>
            <a:r>
              <a:rPr lang="en" sz="1800" b="1" dirty="0">
                <a:latin typeface="Arial"/>
                <a:ea typeface="Arial"/>
                <a:cs typeface="Arial"/>
                <a:sym typeface="Arial"/>
              </a:rPr>
              <a:t>Database:</a:t>
            </a:r>
            <a:r>
              <a:rPr lang="en" sz="1800" dirty="0">
                <a:latin typeface="Arial"/>
                <a:ea typeface="Arial"/>
                <a:cs typeface="Arial"/>
                <a:sym typeface="Arial"/>
              </a:rPr>
              <a:t> </a:t>
            </a:r>
            <a:r>
              <a:rPr lang="en" sz="1800" dirty="0" smtClean="0">
                <a:latin typeface="Arial"/>
                <a:ea typeface="Arial"/>
                <a:cs typeface="Arial"/>
                <a:sym typeface="Arial"/>
              </a:rPr>
              <a:t>MySQL ( To create the database )</a:t>
            </a:r>
            <a:endParaRPr sz="1800" dirty="0">
              <a:latin typeface="Arial"/>
              <a:ea typeface="Arial"/>
              <a:cs typeface="Arial"/>
              <a:sym typeface="Arial"/>
            </a:endParaRPr>
          </a:p>
          <a:p>
            <a:pPr marL="457200" lvl="0" indent="-342900" algn="l" rtl="0">
              <a:lnSpc>
                <a:spcPct val="115000"/>
              </a:lnSpc>
              <a:spcBef>
                <a:spcPts val="0"/>
              </a:spcBef>
              <a:spcAft>
                <a:spcPts val="0"/>
              </a:spcAft>
              <a:buClr>
                <a:schemeClr val="lt1"/>
              </a:buClr>
              <a:buSzPts val="1800"/>
              <a:buFont typeface="Arial"/>
              <a:buChar char="●"/>
            </a:pPr>
            <a:r>
              <a:rPr lang="en" sz="1800" b="1" dirty="0">
                <a:latin typeface="Arial"/>
                <a:ea typeface="Arial"/>
                <a:cs typeface="Arial"/>
                <a:sym typeface="Arial"/>
              </a:rPr>
              <a:t>IDE:</a:t>
            </a:r>
            <a:r>
              <a:rPr lang="en" sz="1800" dirty="0">
                <a:latin typeface="Arial"/>
                <a:ea typeface="Arial"/>
                <a:cs typeface="Arial"/>
                <a:sym typeface="Arial"/>
              </a:rPr>
              <a:t> Visual Studio Code</a:t>
            </a:r>
            <a:endParaRPr sz="1800" dirty="0">
              <a:latin typeface="Arial"/>
              <a:ea typeface="Arial"/>
              <a:cs typeface="Arial"/>
              <a:sym typeface="Arial"/>
            </a:endParaRPr>
          </a:p>
          <a:p>
            <a:pPr marL="0" lvl="0" indent="0" algn="l" rtl="0">
              <a:spcBef>
                <a:spcPts val="1200"/>
              </a:spcBef>
              <a:spcAft>
                <a:spcPts val="0"/>
              </a:spcAft>
              <a:buNone/>
            </a:pPr>
            <a:endParaRPr dirty="0"/>
          </a:p>
        </p:txBody>
      </p:sp>
      <p:pic>
        <p:nvPicPr>
          <p:cNvPr id="126" name="Google Shape;126;p17" title="31e5e78bb87da10be3355772e7e6d4df.jpg"/>
          <p:cNvPicPr preferRelativeResize="0"/>
          <p:nvPr/>
        </p:nvPicPr>
        <p:blipFill>
          <a:blip r:embed="rId3">
            <a:alphaModFix/>
          </a:blip>
          <a:stretch>
            <a:fillRect/>
          </a:stretch>
        </p:blipFill>
        <p:spPr>
          <a:xfrm>
            <a:off x="6395050" y="1092625"/>
            <a:ext cx="1178624" cy="1178624"/>
          </a:xfrm>
          <a:prstGeom prst="rect">
            <a:avLst/>
          </a:prstGeom>
          <a:noFill/>
          <a:ln>
            <a:noFill/>
          </a:ln>
        </p:spPr>
      </p:pic>
      <p:pic>
        <p:nvPicPr>
          <p:cNvPr id="127" name="Google Shape;127;p17" title="de6d51395aee9e6d67ed425ce6bfe683.jpg"/>
          <p:cNvPicPr preferRelativeResize="0"/>
          <p:nvPr/>
        </p:nvPicPr>
        <p:blipFill>
          <a:blip r:embed="rId4">
            <a:alphaModFix/>
          </a:blip>
          <a:stretch>
            <a:fillRect/>
          </a:stretch>
        </p:blipFill>
        <p:spPr>
          <a:xfrm>
            <a:off x="7661275" y="2271250"/>
            <a:ext cx="1094826" cy="1094826"/>
          </a:xfrm>
          <a:prstGeom prst="rect">
            <a:avLst/>
          </a:prstGeom>
          <a:noFill/>
          <a:ln>
            <a:noFill/>
          </a:ln>
        </p:spPr>
      </p:pic>
      <p:pic>
        <p:nvPicPr>
          <p:cNvPr id="128" name="Google Shape;128;p17" title="de53337026503baacf39e259e986fc84.jpg"/>
          <p:cNvPicPr preferRelativeResize="0"/>
          <p:nvPr/>
        </p:nvPicPr>
        <p:blipFill>
          <a:blip r:embed="rId5">
            <a:alphaModFix/>
          </a:blip>
          <a:stretch>
            <a:fillRect/>
          </a:stretch>
        </p:blipFill>
        <p:spPr>
          <a:xfrm>
            <a:off x="6246025" y="3366075"/>
            <a:ext cx="1156173" cy="1094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6"/>
                                        </p:tgtEl>
                                        <p:attrNameLst>
                                          <p:attrName>style.visibility</p:attrName>
                                        </p:attrNameLst>
                                      </p:cBhvr>
                                      <p:to>
                                        <p:strVal val="hidden"/>
                                      </p:to>
                                    </p:set>
                                  </p:childTnLst>
                                </p:cTn>
                              </p:par>
                              <p:par>
                                <p:cTn id="7" presetID="2" presetClass="exit" presetSubtype="4" fill="hold" nodeType="withEffect">
                                  <p:stCondLst>
                                    <p:cond delay="0"/>
                                  </p:stCondLst>
                                  <p:childTnLst>
                                    <p:anim calcmode="lin" valueType="num">
                                      <p:cBhvr additive="base">
                                        <p:cTn id="8" dur="1000"/>
                                        <p:tgtEl>
                                          <p:spTgt spid="127"/>
                                        </p:tgtEl>
                                        <p:attrNameLst>
                                          <p:attrName>ppt_y</p:attrName>
                                        </p:attrNameLst>
                                      </p:cBhvr>
                                      <p:tavLst>
                                        <p:tav tm="0">
                                          <p:val>
                                            <p:strVal val="#ppt_y"/>
                                          </p:val>
                                        </p:tav>
                                        <p:tav tm="100000">
                                          <p:val>
                                            <p:strVal val="#ppt_y+1"/>
                                          </p:val>
                                        </p:tav>
                                      </p:tavLst>
                                    </p:anim>
                                    <p:set>
                                      <p:cBhvr>
                                        <p:cTn id="9" dur="1" fill="hold">
                                          <p:stCondLst>
                                            <p:cond delay="1000"/>
                                          </p:stCondLst>
                                        </p:cTn>
                                        <p:tgtEl>
                                          <p:spTgt spid="127"/>
                                        </p:tgtEl>
                                        <p:attrNameLst>
                                          <p:attrName>style.visibility</p:attrName>
                                        </p:attrNameLst>
                                      </p:cBhvr>
                                      <p:to>
                                        <p:strVal val="hidden"/>
                                      </p:to>
                                    </p:set>
                                  </p:childTnLst>
                                </p:cTn>
                              </p:par>
                              <p:par>
                                <p:cTn id="10" presetID="23" presetClass="exit" presetSubtype="32" fill="hold" nodeType="withEffect">
                                  <p:stCondLst>
                                    <p:cond delay="0"/>
                                  </p:stCondLst>
                                  <p:childTnLst>
                                    <p:anim calcmode="lin" valueType="num">
                                      <p:cBhvr additive="base">
                                        <p:cTn id="11" dur="1000"/>
                                        <p:tgtEl>
                                          <p:spTgt spid="128"/>
                                        </p:tgtEl>
                                        <p:attrNameLst>
                                          <p:attrName>ppt_w</p:attrName>
                                        </p:attrNameLst>
                                      </p:cBhvr>
                                      <p:tavLst>
                                        <p:tav tm="0">
                                          <p:val>
                                            <p:strVal val="#ppt_w"/>
                                          </p:val>
                                        </p:tav>
                                        <p:tav tm="100000">
                                          <p:val>
                                            <p:strVal val="0"/>
                                          </p:val>
                                        </p:tav>
                                      </p:tavLst>
                                    </p:anim>
                                    <p:anim calcmode="lin" valueType="num">
                                      <p:cBhvr additive="base">
                                        <p:cTn id="12" dur="1000"/>
                                        <p:tgtEl>
                                          <p:spTgt spid="128"/>
                                        </p:tgtEl>
                                        <p:attrNameLst>
                                          <p:attrName>ppt_h</p:attrName>
                                        </p:attrNameLst>
                                      </p:cBhvr>
                                      <p:tavLst>
                                        <p:tav tm="0">
                                          <p:val>
                                            <p:strVal val="#ppt_h"/>
                                          </p:val>
                                        </p:tav>
                                        <p:tav tm="100000">
                                          <p:val>
                                            <p:strVal val="0"/>
                                          </p:val>
                                        </p:tav>
                                      </p:tavLst>
                                    </p:anim>
                                    <p:set>
                                      <p:cBhvr>
                                        <p:cTn id="13" dur="1" fill="hold">
                                          <p:stCondLst>
                                            <p:cond delay="1000"/>
                                          </p:stCondLst>
                                        </p:cTn>
                                        <p:tgtEl>
                                          <p:spTgt spid="1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18" title="f89dccd9386da7a0eb8953ac18383a75.jpg"/>
          <p:cNvPicPr preferRelativeResize="0"/>
          <p:nvPr/>
        </p:nvPicPr>
        <p:blipFill rotWithShape="1">
          <a:blip r:embed="rId3">
            <a:alphaModFix/>
          </a:blip>
          <a:srcRect t="5970" b="5970"/>
          <a:stretch/>
        </p:blipFill>
        <p:spPr>
          <a:xfrm>
            <a:off x="4695824" y="434175"/>
            <a:ext cx="1891827" cy="1665899"/>
          </a:xfrm>
          <a:prstGeom prst="rect">
            <a:avLst/>
          </a:prstGeom>
          <a:noFill/>
          <a:ln>
            <a:noFill/>
          </a:ln>
        </p:spPr>
      </p:pic>
      <p:pic>
        <p:nvPicPr>
          <p:cNvPr id="135" name="Google Shape;135;p18" title="543b3aa5df83848d2d6041051292ff5b.jpg"/>
          <p:cNvPicPr preferRelativeResize="0"/>
          <p:nvPr/>
        </p:nvPicPr>
        <p:blipFill rotWithShape="1">
          <a:blip r:embed="rId4">
            <a:alphaModFix/>
          </a:blip>
          <a:srcRect t="6574" b="6582"/>
          <a:stretch/>
        </p:blipFill>
        <p:spPr>
          <a:xfrm>
            <a:off x="6800775" y="434175"/>
            <a:ext cx="1918200" cy="1665899"/>
          </a:xfrm>
          <a:prstGeom prst="rect">
            <a:avLst/>
          </a:prstGeom>
          <a:noFill/>
          <a:ln>
            <a:noFill/>
          </a:ln>
        </p:spPr>
      </p:pic>
      <p:pic>
        <p:nvPicPr>
          <p:cNvPr id="136" name="Google Shape;136;p18" title="ee93f30ac6a1b78b3eb9ca4540889e46.jpg"/>
          <p:cNvPicPr preferRelativeResize="0"/>
          <p:nvPr/>
        </p:nvPicPr>
        <p:blipFill rotWithShape="1">
          <a:blip r:embed="rId5">
            <a:alphaModFix/>
          </a:blip>
          <a:srcRect t="20094" b="20100"/>
          <a:stretch/>
        </p:blipFill>
        <p:spPr>
          <a:xfrm>
            <a:off x="4695825" y="2289750"/>
            <a:ext cx="4023151" cy="2406074"/>
          </a:xfrm>
          <a:prstGeom prst="rect">
            <a:avLst/>
          </a:prstGeom>
          <a:noFill/>
          <a:ln>
            <a:noFill/>
          </a:ln>
        </p:spPr>
      </p:pic>
      <p:sp>
        <p:nvSpPr>
          <p:cNvPr id="137" name="Google Shape;137;p18"/>
          <p:cNvSpPr txBox="1"/>
          <p:nvPr/>
        </p:nvSpPr>
        <p:spPr>
          <a:xfrm>
            <a:off x="534800" y="762875"/>
            <a:ext cx="4530000" cy="3567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b="1">
                <a:solidFill>
                  <a:srgbClr val="85200C"/>
                </a:solidFill>
              </a:rPr>
              <a:t> Expected Outcomes</a:t>
            </a:r>
            <a:endParaRPr sz="1200" b="1">
              <a:solidFill>
                <a:srgbClr val="85200C"/>
              </a:solidFill>
            </a:endParaRPr>
          </a:p>
          <a:p>
            <a:pPr marL="457200" lvl="0" indent="-304800" algn="l" rtl="0">
              <a:lnSpc>
                <a:spcPct val="115000"/>
              </a:lnSpc>
              <a:spcBef>
                <a:spcPts val="1200"/>
              </a:spcBef>
              <a:spcAft>
                <a:spcPts val="0"/>
              </a:spcAft>
              <a:buClr>
                <a:srgbClr val="85200C"/>
              </a:buClr>
              <a:buSzPts val="1200"/>
              <a:buChar char="●"/>
            </a:pPr>
            <a:r>
              <a:rPr lang="en" sz="1200">
                <a:solidFill>
                  <a:srgbClr val="85200C"/>
                </a:solidFill>
              </a:rPr>
              <a:t>Fully functional bike shop web system.</a:t>
            </a:r>
            <a:endParaRPr sz="1200">
              <a:solidFill>
                <a:srgbClr val="85200C"/>
              </a:solidFill>
            </a:endParaRPr>
          </a:p>
          <a:p>
            <a:pPr marL="457200" lvl="0" indent="-304800" algn="l" rtl="0">
              <a:lnSpc>
                <a:spcPct val="115000"/>
              </a:lnSpc>
              <a:spcBef>
                <a:spcPts val="0"/>
              </a:spcBef>
              <a:spcAft>
                <a:spcPts val="0"/>
              </a:spcAft>
              <a:buClr>
                <a:srgbClr val="85200C"/>
              </a:buClr>
              <a:buSzPts val="1200"/>
              <a:buChar char="●"/>
            </a:pPr>
            <a:r>
              <a:rPr lang="en" sz="1200">
                <a:solidFill>
                  <a:srgbClr val="85200C"/>
                </a:solidFill>
              </a:rPr>
              <a:t>Admin/customer dashboards.</a:t>
            </a:r>
            <a:endParaRPr sz="1200">
              <a:solidFill>
                <a:srgbClr val="85200C"/>
              </a:solidFill>
            </a:endParaRPr>
          </a:p>
          <a:p>
            <a:pPr marL="457200" lvl="0" indent="-304800" algn="l" rtl="0">
              <a:lnSpc>
                <a:spcPct val="115000"/>
              </a:lnSpc>
              <a:spcBef>
                <a:spcPts val="0"/>
              </a:spcBef>
              <a:spcAft>
                <a:spcPts val="0"/>
              </a:spcAft>
              <a:buClr>
                <a:srgbClr val="85200C"/>
              </a:buClr>
              <a:buSzPts val="1200"/>
              <a:buChar char="●"/>
            </a:pPr>
            <a:r>
              <a:rPr lang="en" sz="1200">
                <a:solidFill>
                  <a:srgbClr val="85200C"/>
                </a:solidFill>
              </a:rPr>
              <a:t>Real-time inventory and sales reports.</a:t>
            </a:r>
            <a:endParaRPr sz="1200">
              <a:solidFill>
                <a:srgbClr val="85200C"/>
              </a:solidFill>
            </a:endParaRPr>
          </a:p>
          <a:p>
            <a:pPr marL="457200" lvl="0" indent="-304800" algn="l" rtl="0">
              <a:lnSpc>
                <a:spcPct val="115000"/>
              </a:lnSpc>
              <a:spcBef>
                <a:spcPts val="0"/>
              </a:spcBef>
              <a:spcAft>
                <a:spcPts val="0"/>
              </a:spcAft>
              <a:buClr>
                <a:srgbClr val="85200C"/>
              </a:buClr>
              <a:buSzPts val="1200"/>
              <a:buChar char="●"/>
            </a:pPr>
            <a:r>
              <a:rPr lang="en" sz="1200">
                <a:solidFill>
                  <a:srgbClr val="85200C"/>
                </a:solidFill>
              </a:rPr>
              <a:t>Enhanced user experience and performance.</a:t>
            </a:r>
            <a:endParaRPr sz="1200">
              <a:solidFill>
                <a:srgbClr val="85200C"/>
              </a:solidFill>
            </a:endParaRPr>
          </a:p>
          <a:p>
            <a:pPr marL="0" lvl="0" indent="0" algn="l" rtl="0">
              <a:lnSpc>
                <a:spcPct val="115000"/>
              </a:lnSpc>
              <a:spcBef>
                <a:spcPts val="1200"/>
              </a:spcBef>
              <a:spcAft>
                <a:spcPts val="0"/>
              </a:spcAft>
              <a:buNone/>
            </a:pPr>
            <a:endParaRPr sz="1200">
              <a:solidFill>
                <a:srgbClr val="85200C"/>
              </a:solidFill>
            </a:endParaRPr>
          </a:p>
          <a:p>
            <a:pPr marL="0" lvl="0" indent="0" algn="l" rtl="0">
              <a:lnSpc>
                <a:spcPct val="115000"/>
              </a:lnSpc>
              <a:spcBef>
                <a:spcPts val="1200"/>
              </a:spcBef>
              <a:spcAft>
                <a:spcPts val="0"/>
              </a:spcAft>
              <a:buNone/>
            </a:pPr>
            <a:r>
              <a:rPr lang="en" sz="1200" b="1">
                <a:solidFill>
                  <a:srgbClr val="85200C"/>
                </a:solidFill>
              </a:rPr>
              <a:t>Future Enhancements</a:t>
            </a:r>
            <a:endParaRPr sz="1200" b="1">
              <a:solidFill>
                <a:srgbClr val="85200C"/>
              </a:solidFill>
            </a:endParaRPr>
          </a:p>
          <a:p>
            <a:pPr marL="457200" lvl="0" indent="-304800" algn="l" rtl="0">
              <a:lnSpc>
                <a:spcPct val="115000"/>
              </a:lnSpc>
              <a:spcBef>
                <a:spcPts val="1200"/>
              </a:spcBef>
              <a:spcAft>
                <a:spcPts val="0"/>
              </a:spcAft>
              <a:buClr>
                <a:srgbClr val="85200C"/>
              </a:buClr>
              <a:buSzPts val="1200"/>
              <a:buChar char="●"/>
            </a:pPr>
            <a:r>
              <a:rPr lang="en" sz="1200">
                <a:solidFill>
                  <a:srgbClr val="85200C"/>
                </a:solidFill>
              </a:rPr>
              <a:t>Online payments (SSLCommerz, Bkash, Nagad).</a:t>
            </a:r>
            <a:endParaRPr sz="1200">
              <a:solidFill>
                <a:srgbClr val="85200C"/>
              </a:solidFill>
            </a:endParaRPr>
          </a:p>
          <a:p>
            <a:pPr marL="457200" lvl="0" indent="-304800" algn="l" rtl="0">
              <a:lnSpc>
                <a:spcPct val="115000"/>
              </a:lnSpc>
              <a:spcBef>
                <a:spcPts val="0"/>
              </a:spcBef>
              <a:spcAft>
                <a:spcPts val="0"/>
              </a:spcAft>
              <a:buClr>
                <a:srgbClr val="85200C"/>
              </a:buClr>
              <a:buSzPts val="1200"/>
              <a:buChar char="●"/>
            </a:pPr>
            <a:r>
              <a:rPr lang="en" sz="1200">
                <a:solidFill>
                  <a:srgbClr val="85200C"/>
                </a:solidFill>
              </a:rPr>
              <a:t>Mobile app version.</a:t>
            </a:r>
            <a:endParaRPr sz="1200">
              <a:solidFill>
                <a:srgbClr val="85200C"/>
              </a:solidFill>
            </a:endParaRPr>
          </a:p>
          <a:p>
            <a:pPr marL="457200" lvl="0" indent="-304800" algn="l" rtl="0">
              <a:lnSpc>
                <a:spcPct val="115000"/>
              </a:lnSpc>
              <a:spcBef>
                <a:spcPts val="0"/>
              </a:spcBef>
              <a:spcAft>
                <a:spcPts val="0"/>
              </a:spcAft>
              <a:buClr>
                <a:srgbClr val="85200C"/>
              </a:buClr>
              <a:buSzPts val="1200"/>
              <a:buChar char="●"/>
            </a:pPr>
            <a:r>
              <a:rPr lang="en" sz="1200">
                <a:solidFill>
                  <a:srgbClr val="85200C"/>
                </a:solidFill>
              </a:rPr>
              <a:t>AI-powered recommendations.</a:t>
            </a:r>
            <a:endParaRPr sz="1200">
              <a:solidFill>
                <a:srgbClr val="85200C"/>
              </a:solidFill>
            </a:endParaRPr>
          </a:p>
          <a:p>
            <a:pPr marL="457200" lvl="0" indent="-304800" algn="l" rtl="0">
              <a:lnSpc>
                <a:spcPct val="115000"/>
              </a:lnSpc>
              <a:spcBef>
                <a:spcPts val="0"/>
              </a:spcBef>
              <a:spcAft>
                <a:spcPts val="0"/>
              </a:spcAft>
              <a:buClr>
                <a:srgbClr val="85200C"/>
              </a:buClr>
              <a:buSzPts val="1200"/>
              <a:buChar char="●"/>
            </a:pPr>
            <a:r>
              <a:rPr lang="en" sz="1200">
                <a:solidFill>
                  <a:srgbClr val="85200C"/>
                </a:solidFill>
              </a:rPr>
              <a:t>Chatbot and business analytics features.</a:t>
            </a:r>
            <a:endParaRPr sz="1200">
              <a:solidFill>
                <a:srgbClr val="85200C"/>
              </a:solidFill>
            </a:endParaRPr>
          </a:p>
          <a:p>
            <a:pPr marL="0" lvl="0" indent="0" algn="l" rtl="0">
              <a:spcBef>
                <a:spcPts val="1200"/>
              </a:spcBef>
              <a:spcAft>
                <a:spcPts val="0"/>
              </a:spcAft>
              <a:buNone/>
            </a:pPr>
            <a:endParaRPr sz="1800">
              <a:solidFill>
                <a:schemeClr val="dk2"/>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p:cTn id="7" dur="1000"/>
                                        <p:tgtEl>
                                          <p:spTgt spid="13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34"/>
                                        </p:tgtEl>
                                        <p:attrNameLst>
                                          <p:attrName>style.visibility</p:attrName>
                                        </p:attrNameLst>
                                      </p:cBhvr>
                                      <p:to>
                                        <p:strVal val="visible"/>
                                      </p:to>
                                    </p:set>
                                    <p:anim calcmode="lin" valueType="num">
                                      <p:cBhvr additive="base">
                                        <p:cTn id="12" dur="1000"/>
                                        <p:tgtEl>
                                          <p:spTgt spid="134"/>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35"/>
                                        </p:tgtEl>
                                        <p:attrNameLst>
                                          <p:attrName>style.visibility</p:attrName>
                                        </p:attrNameLst>
                                      </p:cBhvr>
                                      <p:to>
                                        <p:strVal val="visible"/>
                                      </p:to>
                                    </p:set>
                                    <p:anim calcmode="lin" valueType="num">
                                      <p:cBhvr additive="base">
                                        <p:cTn id="17" dur="1000"/>
                                        <p:tgtEl>
                                          <p:spTgt spid="135"/>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1" fill="hold" nodeType="clickEffect">
                                  <p:stCondLst>
                                    <p:cond delay="0"/>
                                  </p:stCondLst>
                                  <p:childTnLst>
                                    <p:set>
                                      <p:cBhvr>
                                        <p:cTn id="21" dur="1" fill="hold">
                                          <p:stCondLst>
                                            <p:cond delay="0"/>
                                          </p:stCondLst>
                                        </p:cTn>
                                        <p:tgtEl>
                                          <p:spTgt spid="136"/>
                                        </p:tgtEl>
                                        <p:attrNameLst>
                                          <p:attrName>style.visibility</p:attrName>
                                        </p:attrNameLst>
                                      </p:cBhvr>
                                      <p:to>
                                        <p:strVal val="visible"/>
                                      </p:to>
                                    </p:set>
                                    <p:anim calcmode="lin" valueType="num">
                                      <p:cBhvr additive="base">
                                        <p:cTn id="22" dur="1000"/>
                                        <p:tgtEl>
                                          <p:spTgt spid="1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9"/>
          <p:cNvSpPr txBox="1">
            <a:spLocks noGrp="1"/>
          </p:cNvSpPr>
          <p:nvPr>
            <p:ph type="title"/>
          </p:nvPr>
        </p:nvSpPr>
        <p:spPr>
          <a:xfrm>
            <a:off x="311700" y="547725"/>
            <a:ext cx="2808000" cy="755700"/>
          </a:xfrm>
          <a:prstGeom prst="rect">
            <a:avLst/>
          </a:prstGeom>
        </p:spPr>
        <p:txBody>
          <a:bodyPr spcFirstLastPara="1" wrap="square" lIns="91425" tIns="91425" rIns="91425" bIns="91425" anchor="b" anchorCtr="0">
            <a:normAutofit fontScale="90000"/>
          </a:bodyPr>
          <a:lstStyle/>
          <a:p>
            <a:pPr marL="0" lvl="0" indent="0" algn="l" rtl="0">
              <a:lnSpc>
                <a:spcPct val="115000"/>
              </a:lnSpc>
              <a:spcBef>
                <a:spcPts val="1200"/>
              </a:spcBef>
              <a:spcAft>
                <a:spcPts val="1200"/>
              </a:spcAft>
              <a:buNone/>
            </a:pPr>
            <a:r>
              <a:rPr lang="en" sz="2100" b="1">
                <a:latin typeface="Arial"/>
                <a:ea typeface="Arial"/>
                <a:cs typeface="Arial"/>
                <a:sym typeface="Arial"/>
              </a:rPr>
              <a:t>Conclusion</a:t>
            </a:r>
            <a:endParaRPr sz="3400"/>
          </a:p>
        </p:txBody>
      </p:sp>
      <p:sp>
        <p:nvSpPr>
          <p:cNvPr id="144" name="Google Shape;144;p19"/>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rgbClr val="CC4125"/>
              </a:buClr>
              <a:buSzPts val="1500"/>
              <a:buFont typeface="Arial"/>
              <a:buChar char="●"/>
            </a:pPr>
            <a:r>
              <a:rPr lang="en" sz="1500">
                <a:solidFill>
                  <a:srgbClr val="CC4125"/>
                </a:solidFill>
                <a:latin typeface="Arial"/>
                <a:ea typeface="Arial"/>
                <a:cs typeface="Arial"/>
                <a:sym typeface="Arial"/>
              </a:rPr>
              <a:t>Our system transforms traditional bike stores into efficient, digital platforms.</a:t>
            </a:r>
            <a:endParaRPr sz="1500">
              <a:solidFill>
                <a:srgbClr val="CC4125"/>
              </a:solidFill>
              <a:latin typeface="Arial"/>
              <a:ea typeface="Arial"/>
              <a:cs typeface="Arial"/>
              <a:sym typeface="Arial"/>
            </a:endParaRPr>
          </a:p>
          <a:p>
            <a:pPr marL="457200" lvl="0" indent="-323850" algn="l" rtl="0">
              <a:spcBef>
                <a:spcPts val="0"/>
              </a:spcBef>
              <a:spcAft>
                <a:spcPts val="0"/>
              </a:spcAft>
              <a:buClr>
                <a:srgbClr val="CC4125"/>
              </a:buClr>
              <a:buSzPts val="1500"/>
              <a:buFont typeface="Arial"/>
              <a:buChar char="●"/>
            </a:pPr>
            <a:r>
              <a:rPr lang="en" sz="1500">
                <a:solidFill>
                  <a:srgbClr val="CC4125"/>
                </a:solidFill>
                <a:latin typeface="Arial"/>
                <a:ea typeface="Arial"/>
                <a:cs typeface="Arial"/>
                <a:sym typeface="Arial"/>
              </a:rPr>
              <a:t>Supports small businesses in Bangladesh with automation.</a:t>
            </a:r>
            <a:endParaRPr sz="1500">
              <a:solidFill>
                <a:srgbClr val="CC4125"/>
              </a:solidFill>
              <a:latin typeface="Arial"/>
              <a:ea typeface="Arial"/>
              <a:cs typeface="Arial"/>
              <a:sym typeface="Arial"/>
            </a:endParaRPr>
          </a:p>
          <a:p>
            <a:pPr marL="457200" lvl="0" indent="-323850" algn="l" rtl="0">
              <a:spcBef>
                <a:spcPts val="0"/>
              </a:spcBef>
              <a:spcAft>
                <a:spcPts val="0"/>
              </a:spcAft>
              <a:buClr>
                <a:srgbClr val="CC4125"/>
              </a:buClr>
              <a:buSzPts val="1500"/>
              <a:buFont typeface="Arial"/>
              <a:buChar char="●"/>
            </a:pPr>
            <a:r>
              <a:rPr lang="en" sz="1500">
                <a:solidFill>
                  <a:srgbClr val="CC4125"/>
                </a:solidFill>
                <a:latin typeface="Arial"/>
                <a:ea typeface="Arial"/>
                <a:cs typeface="Arial"/>
                <a:sym typeface="Arial"/>
              </a:rPr>
              <a:t>Scalable and adaptable for future technologies.</a:t>
            </a:r>
            <a:endParaRPr sz="1500">
              <a:solidFill>
                <a:srgbClr val="CC4125"/>
              </a:solidFill>
              <a:latin typeface="Arial"/>
              <a:ea typeface="Arial"/>
              <a:cs typeface="Arial"/>
              <a:sym typeface="Arial"/>
            </a:endParaRPr>
          </a:p>
          <a:p>
            <a:pPr marL="0" lvl="0" indent="0" algn="l" rtl="0">
              <a:spcBef>
                <a:spcPts val="1200"/>
              </a:spcBef>
              <a:spcAft>
                <a:spcPts val="0"/>
              </a:spcAft>
              <a:buNone/>
            </a:pPr>
            <a:endParaRPr sz="1400" b="1"/>
          </a:p>
        </p:txBody>
      </p:sp>
      <p:pic>
        <p:nvPicPr>
          <p:cNvPr id="145" name="Google Shape;145;p19" title="7855bb6cd78c16aaa0e07e7febff7902.jpg"/>
          <p:cNvPicPr preferRelativeResize="0"/>
          <p:nvPr/>
        </p:nvPicPr>
        <p:blipFill rotWithShape="1">
          <a:blip r:embed="rId3">
            <a:alphaModFix/>
          </a:blip>
          <a:srcRect t="20786" b="20792"/>
          <a:stretch/>
        </p:blipFill>
        <p:spPr>
          <a:xfrm>
            <a:off x="3274664" y="0"/>
            <a:ext cx="5869337"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1000"/>
                                        <p:tgtEl>
                                          <p:spTgt spid="143"/>
                                        </p:tgtEl>
                                      </p:cBhvr>
                                    </p:animEffect>
                                  </p:childTnLst>
                                </p:cTn>
                              </p:par>
                              <p:par>
                                <p:cTn id="8" presetID="10" presetClass="entr" presetSubtype="0" fill="hold" nodeType="withEffect">
                                  <p:stCondLst>
                                    <p:cond delay="0"/>
                                  </p:stCondLst>
                                  <p:childTnLst>
                                    <p:set>
                                      <p:cBhvr>
                                        <p:cTn id="9" dur="1" fill="hold">
                                          <p:stCondLst>
                                            <p:cond delay="0"/>
                                          </p:stCondLst>
                                        </p:cTn>
                                        <p:tgtEl>
                                          <p:spTgt spid="144"/>
                                        </p:tgtEl>
                                        <p:attrNameLst>
                                          <p:attrName>style.visibility</p:attrName>
                                        </p:attrNameLst>
                                      </p:cBhvr>
                                      <p:to>
                                        <p:strVal val="visible"/>
                                      </p:to>
                                    </p:set>
                                    <p:animEffect transition="in" filter="fade">
                                      <p:cBhvr>
                                        <p:cTn id="10" dur="1000"/>
                                        <p:tgtEl>
                                          <p:spTgt spid="144"/>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145"/>
                                        </p:tgtEl>
                                        <p:attrNameLst>
                                          <p:attrName>style.visibility</p:attrName>
                                        </p:attrNameLst>
                                      </p:cBhvr>
                                      <p:to>
                                        <p:strVal val="visible"/>
                                      </p:to>
                                    </p:set>
                                    <p:anim calcmode="lin" valueType="num">
                                      <p:cBhvr additive="base">
                                        <p:cTn id="15" dur="1000"/>
                                        <p:tgtEl>
                                          <p:spTgt spid="145"/>
                                        </p:tgtEl>
                                        <p:attrNameLst>
                                          <p:attrName>ppt_w</p:attrName>
                                        </p:attrNameLst>
                                      </p:cBhvr>
                                      <p:tavLst>
                                        <p:tav tm="0">
                                          <p:val>
                                            <p:strVal val="0"/>
                                          </p:val>
                                        </p:tav>
                                        <p:tav tm="100000">
                                          <p:val>
                                            <p:strVal val="#ppt_w"/>
                                          </p:val>
                                        </p:tav>
                                      </p:tavLst>
                                    </p:anim>
                                    <p:anim calcmode="lin" valueType="num">
                                      <p:cBhvr additive="base">
                                        <p:cTn id="16" dur="1000"/>
                                        <p:tgtEl>
                                          <p:spTgt spid="14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311700" y="547725"/>
            <a:ext cx="2808000" cy="755700"/>
          </a:xfrm>
          <a:prstGeom prst="rect">
            <a:avLst/>
          </a:prstGeom>
        </p:spPr>
        <p:txBody>
          <a:bodyPr spcFirstLastPara="1" wrap="square" lIns="91425" tIns="91425" rIns="91425" bIns="91425" anchor="b" anchorCtr="0">
            <a:normAutofit fontScale="90000"/>
          </a:bodyPr>
          <a:lstStyle/>
          <a:p>
            <a:pPr marL="0" lvl="0" indent="0" algn="ctr" rtl="0">
              <a:lnSpc>
                <a:spcPct val="115000"/>
              </a:lnSpc>
              <a:spcBef>
                <a:spcPts val="1200"/>
              </a:spcBef>
              <a:spcAft>
                <a:spcPts val="0"/>
              </a:spcAft>
              <a:buNone/>
            </a:pPr>
            <a:endParaRPr sz="3500" b="1" i="1" u="sng"/>
          </a:p>
          <a:p>
            <a:pPr marL="0" lvl="0" indent="0" algn="l" rtl="0">
              <a:lnSpc>
                <a:spcPct val="115000"/>
              </a:lnSpc>
              <a:spcBef>
                <a:spcPts val="1200"/>
              </a:spcBef>
              <a:spcAft>
                <a:spcPts val="1200"/>
              </a:spcAft>
              <a:buNone/>
            </a:pPr>
            <a:endParaRPr sz="2100" b="1">
              <a:latin typeface="Arial"/>
              <a:ea typeface="Arial"/>
              <a:cs typeface="Arial"/>
              <a:sym typeface="Arial"/>
            </a:endParaRPr>
          </a:p>
        </p:txBody>
      </p:sp>
      <p:sp>
        <p:nvSpPr>
          <p:cNvPr id="152" name="Google Shape;152;p20"/>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endParaRPr sz="2400" b="1">
              <a:solidFill>
                <a:srgbClr val="000000"/>
              </a:solidFill>
              <a:latin typeface="Arial"/>
              <a:ea typeface="Arial"/>
              <a:cs typeface="Arial"/>
              <a:sym typeface="Arial"/>
            </a:endParaRPr>
          </a:p>
          <a:p>
            <a:pPr marL="457200" lvl="0" indent="-381000" algn="l" rtl="0">
              <a:spcBef>
                <a:spcPts val="1200"/>
              </a:spcBef>
              <a:spcAft>
                <a:spcPts val="0"/>
              </a:spcAft>
              <a:buClr>
                <a:schemeClr val="accent3"/>
              </a:buClr>
              <a:buSzPts val="2400"/>
              <a:buFont typeface="Arial"/>
              <a:buChar char="●"/>
            </a:pPr>
            <a:r>
              <a:rPr lang="en" sz="2400">
                <a:solidFill>
                  <a:schemeClr val="accent3"/>
                </a:solidFill>
                <a:latin typeface="Arial"/>
                <a:ea typeface="Arial"/>
                <a:cs typeface="Arial"/>
                <a:sym typeface="Arial"/>
              </a:rPr>
              <a:t>Thank you!</a:t>
            </a:r>
            <a:endParaRPr sz="2400">
              <a:solidFill>
                <a:schemeClr val="accent3"/>
              </a:solidFill>
              <a:latin typeface="Arial"/>
              <a:ea typeface="Arial"/>
              <a:cs typeface="Arial"/>
              <a:sym typeface="Arial"/>
            </a:endParaRPr>
          </a:p>
          <a:p>
            <a:pPr marL="457200" lvl="0" indent="-381000" algn="l" rtl="0">
              <a:spcBef>
                <a:spcPts val="0"/>
              </a:spcBef>
              <a:spcAft>
                <a:spcPts val="0"/>
              </a:spcAft>
              <a:buClr>
                <a:schemeClr val="accent3"/>
              </a:buClr>
              <a:buSzPts val="2400"/>
              <a:buFont typeface="Arial"/>
              <a:buChar char="●"/>
            </a:pPr>
            <a:r>
              <a:rPr lang="en" sz="2400">
                <a:solidFill>
                  <a:schemeClr val="accent3"/>
                </a:solidFill>
                <a:latin typeface="Arial"/>
                <a:ea typeface="Arial"/>
                <a:cs typeface="Arial"/>
                <a:sym typeface="Arial"/>
              </a:rPr>
              <a:t>Any Questions?</a:t>
            </a:r>
            <a:endParaRPr sz="2400">
              <a:solidFill>
                <a:schemeClr val="accent3"/>
              </a:solidFill>
              <a:latin typeface="Arial"/>
              <a:ea typeface="Arial"/>
              <a:cs typeface="Arial"/>
              <a:sym typeface="Arial"/>
            </a:endParaRPr>
          </a:p>
          <a:p>
            <a:pPr marL="0" lvl="0" indent="0" algn="l" rtl="0">
              <a:spcBef>
                <a:spcPts val="1200"/>
              </a:spcBef>
              <a:spcAft>
                <a:spcPts val="0"/>
              </a:spcAft>
              <a:buNone/>
            </a:pPr>
            <a:endParaRPr sz="1500">
              <a:solidFill>
                <a:srgbClr val="CC4125"/>
              </a:solidFill>
              <a:latin typeface="Arial"/>
              <a:ea typeface="Arial"/>
              <a:cs typeface="Arial"/>
              <a:sym typeface="Arial"/>
            </a:endParaRPr>
          </a:p>
          <a:p>
            <a:pPr marL="0" lvl="0" indent="0" algn="l" rtl="0">
              <a:spcBef>
                <a:spcPts val="1200"/>
              </a:spcBef>
              <a:spcAft>
                <a:spcPts val="0"/>
              </a:spcAft>
              <a:buNone/>
            </a:pPr>
            <a:endParaRPr sz="1400" b="1"/>
          </a:p>
        </p:txBody>
      </p:sp>
      <p:pic>
        <p:nvPicPr>
          <p:cNvPr id="153" name="Google Shape;153;p20" title="52cb7bc85773a32e50839289c4752509.jpg"/>
          <p:cNvPicPr preferRelativeResize="0"/>
          <p:nvPr/>
        </p:nvPicPr>
        <p:blipFill rotWithShape="1">
          <a:blip r:embed="rId3">
            <a:alphaModFix/>
          </a:blip>
          <a:srcRect t="25345" b="25345"/>
          <a:stretch/>
        </p:blipFill>
        <p:spPr>
          <a:xfrm>
            <a:off x="3274675" y="0"/>
            <a:ext cx="5869326" cy="51435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1000"/>
                                        <p:tgtEl>
                                          <p:spTgt spid="151"/>
                                        </p:tgtEl>
                                      </p:cBhvr>
                                    </p:animEffect>
                                  </p:childTnLst>
                                </p:cTn>
                              </p:par>
                              <p:par>
                                <p:cTn id="8" presetID="10" presetClass="entr" presetSubtype="0" fill="hold" nodeType="withEffect">
                                  <p:stCondLst>
                                    <p:cond delay="0"/>
                                  </p:stCondLst>
                                  <p:childTnLst>
                                    <p:set>
                                      <p:cBhvr>
                                        <p:cTn id="9" dur="1" fill="hold">
                                          <p:stCondLst>
                                            <p:cond delay="0"/>
                                          </p:stCondLst>
                                        </p:cTn>
                                        <p:tgtEl>
                                          <p:spTgt spid="152"/>
                                        </p:tgtEl>
                                        <p:attrNameLst>
                                          <p:attrName>style.visibility</p:attrName>
                                        </p:attrNameLst>
                                      </p:cBhvr>
                                      <p:to>
                                        <p:strVal val="visible"/>
                                      </p:to>
                                    </p:set>
                                    <p:animEffect transition="in" filter="fade">
                                      <p:cBhvr>
                                        <p:cTn id="10" dur="1000"/>
                                        <p:tgtEl>
                                          <p:spTgt spid="152"/>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153"/>
                                        </p:tgtEl>
                                        <p:attrNameLst>
                                          <p:attrName>style.visibility</p:attrName>
                                        </p:attrNameLst>
                                      </p:cBhvr>
                                      <p:to>
                                        <p:strVal val="visible"/>
                                      </p:to>
                                    </p:set>
                                    <p:anim calcmode="lin" valueType="num">
                                      <p:cBhvr additive="base">
                                        <p:cTn id="15" dur="1000"/>
                                        <p:tgtEl>
                                          <p:spTgt spid="153"/>
                                        </p:tgtEl>
                                        <p:attrNameLst>
                                          <p:attrName>ppt_w</p:attrName>
                                        </p:attrNameLst>
                                      </p:cBhvr>
                                      <p:tavLst>
                                        <p:tav tm="0">
                                          <p:val>
                                            <p:strVal val="0"/>
                                          </p:val>
                                        </p:tav>
                                        <p:tav tm="100000">
                                          <p:val>
                                            <p:strVal val="#ppt_w"/>
                                          </p:val>
                                        </p:tav>
                                      </p:tavLst>
                                    </p:anim>
                                    <p:anim calcmode="lin" valueType="num">
                                      <p:cBhvr additive="base">
                                        <p:cTn id="16" dur="1000"/>
                                        <p:tgtEl>
                                          <p:spTgt spid="153"/>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511</Words>
  <Application>Microsoft Office PowerPoint</Application>
  <PresentationFormat>On-screen Show (16:9)</PresentationFormat>
  <Paragraphs>69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Roboto</vt:lpstr>
      <vt:lpstr>Arial</vt:lpstr>
      <vt:lpstr>Geometric</vt:lpstr>
      <vt:lpstr>Bike Store Management System </vt:lpstr>
      <vt:lpstr>Bike Store Management System</vt:lpstr>
      <vt:lpstr>PowerPoint Presentation</vt:lpstr>
      <vt:lpstr>User Interface features:  Home page Login and signup option Navigation bar with multiple options Dropdown menus to make user experience easy Show products of different categories and brands Search bar and Sidebar to filter result of shown product See cart Password change option for user Discount and book products option for logged in users Contact with customers through email (and contact_no) Product compare option Lot of brands and products for user to choose from Classic design for each part of the website</vt:lpstr>
      <vt:lpstr>Technical Specifications Frontend: HTML ( Webpage tables &amp; structures), CSS ( Basic styling ) Backend: PHP ( Server side logic, request handling and database operations ),  JS               ( Rendering dynamic content and tracking user interactions ) Database: MySQL ( To create the database ) IDE: Visual Studio Code </vt:lpstr>
      <vt:lpstr>PowerPoint Presentation</vt:lpstr>
      <vt:lpstr>Conclusion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Bike Store Management System </dc:title>
  <cp:lastModifiedBy>Md.Munem Rahman</cp:lastModifiedBy>
  <cp:revision>2</cp:revision>
  <dcterms:modified xsi:type="dcterms:W3CDTF">2026-02-24T17:16:48Z</dcterms:modified>
</cp:coreProperties>
</file>